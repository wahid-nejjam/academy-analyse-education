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0.xml" ContentType="application/vnd.openxmlformats-officedocument.presentationml.notesSlide+xml"/>
  <Override PartName="/ppt/charts/chart4.xml" ContentType="application/vnd.openxmlformats-officedocument.drawingml.chart+xml"/>
  <Override PartName="/ppt/charts/chart5.xml" ContentType="application/vnd.openxmlformats-officedocument.drawingml.chart+xml"/>
  <Override PartName="/ppt/notesSlides/notesSlide11.xml" ContentType="application/vnd.openxmlformats-officedocument.presentationml.notesSlide+xml"/>
  <Override PartName="/ppt/charts/chart6.xml" ContentType="application/vnd.openxmlformats-officedocument.drawingml.chart+xml"/>
  <Override PartName="/ppt/notesSlides/notesSlide12.xml" ContentType="application/vnd.openxmlformats-officedocument.presentationml.notesSlide+xml"/>
  <Override PartName="/ppt/charts/chart7.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 id="273" r:id="rId18"/>
    <p:sldId id="274" r:id="rId19"/>
    <p:sldId id="275" r:id="rId20"/>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6" d="100"/>
          <a:sy n="46" d="100"/>
        </p:scale>
        <p:origin x="1050"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sz="1500" b="1">
                <a:solidFill>
                  <a:srgbClr val="281F35"/>
                </a:solidFill>
                <a:latin typeface="DejaVu Sans"/>
                <a:ea typeface="DejaVu Sans"/>
                <a:cs typeface="DejaVu Sans"/>
              </a:rPr>
              <a:t>Valeurs renseignées dans le périmètre métier</a:t>
            </a:r>
          </a:p>
        </c:rich>
      </c:tx>
      <c:overlay val="0"/>
    </c:title>
    <c:autoTitleDeleted val="0"/>
    <c:plotArea>
      <c:layout/>
      <c:barChart>
        <c:barDir val="col"/>
        <c:grouping val="clustered"/>
        <c:varyColors val="0"/>
        <c:ser>
          <c:idx val="0"/>
          <c:order val="0"/>
          <c:tx>
            <c:v>Valeurs renseignées dans le périmètre métier</c:v>
          </c:tx>
          <c:spPr>
            <a:solidFill>
              <a:srgbClr val="651852"/>
            </a:solidFill>
          </c:spPr>
          <c:invertIfNegative val="0"/>
          <c:dLbls>
            <c:numFmt formatCode="0" sourceLinked="0"/>
            <c:spPr>
              <a:noFill/>
              <a:ln>
                <a:noFill/>
              </a:ln>
              <a:effectLst/>
            </c:spPr>
            <c:txPr>
              <a:bodyPr anchorCtr="1"/>
              <a:lstStyle/>
              <a:p>
                <a:pPr>
                  <a:defRPr sz="1200" b="1">
                    <a:solidFill>
                      <a:srgbClr val="281F35"/>
                    </a:solidFill>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numRef>
              <c:f>'Chart Data'!$A$2:$A$6</c:f>
              <c:numCache>
                <c:formatCode>0</c:formatCode>
                <c:ptCount val="5"/>
                <c:pt idx="0">
                  <c:v>2009</c:v>
                </c:pt>
                <c:pt idx="1">
                  <c:v>2010</c:v>
                </c:pt>
                <c:pt idx="2">
                  <c:v>2011</c:v>
                </c:pt>
                <c:pt idx="3">
                  <c:v>2012</c:v>
                </c:pt>
                <c:pt idx="4">
                  <c:v>2015</c:v>
                </c:pt>
              </c:numCache>
            </c:numRef>
          </c:cat>
          <c:val>
            <c:numRef>
              <c:f>'Chart Data'!$B$2:$B$6</c:f>
              <c:numCache>
                <c:formatCode>0</c:formatCode>
                <c:ptCount val="5"/>
                <c:pt idx="0">
                  <c:v>91091</c:v>
                </c:pt>
                <c:pt idx="1">
                  <c:v>190172</c:v>
                </c:pt>
                <c:pt idx="2">
                  <c:v>93197</c:v>
                </c:pt>
                <c:pt idx="3">
                  <c:v>94109</c:v>
                </c:pt>
                <c:pt idx="4">
                  <c:v>109623</c:v>
                </c:pt>
              </c:numCache>
            </c:numRef>
          </c:val>
          <c:extLst>
            <c:ext xmlns:c16="http://schemas.microsoft.com/office/drawing/2014/chart" uri="{C3380CC4-5D6E-409C-BE32-E72D297353CC}">
              <c16:uniqueId val="{00000000-CF5E-4DFF-8E94-F996C8F6FE87}"/>
            </c:ext>
          </c:extLst>
        </c:ser>
        <c:dLbls>
          <c:dLblPos val="outEnd"/>
          <c:showLegendKey val="0"/>
          <c:showVal val="1"/>
          <c:showCatName val="0"/>
          <c:showSerName val="0"/>
          <c:showPercent val="0"/>
          <c:showBubbleSize val="0"/>
        </c:dLbls>
        <c:gapWidth val="20"/>
        <c:axId val="48650112"/>
        <c:axId val="48672768"/>
      </c:barChart>
      <c:catAx>
        <c:axId val="48650112"/>
        <c:scaling>
          <c:orientation val="minMax"/>
        </c:scaling>
        <c:delete val="0"/>
        <c:axPos val="b"/>
        <c:title>
          <c:tx>
            <c:rich>
              <a:bodyPr/>
              <a:lstStyle/>
              <a:p>
                <a:r>
                  <a:rPr sz="1200">
                    <a:solidFill>
                      <a:srgbClr val="281F35"/>
                    </a:solidFill>
                    <a:latin typeface="DejaVu Sans"/>
                    <a:ea typeface="DejaVu Sans"/>
                    <a:cs typeface="DejaVu Sans"/>
                  </a:rPr>
                  <a:t>Année sélectionnée</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050">
                <a:solidFill>
                  <a:srgbClr val="281F35"/>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7D8DF"/>
              </a:solidFill>
              <a:prstDash val="solid"/>
            </a:ln>
          </c:spPr>
        </c:majorGridlines>
        <c:title>
          <c:tx>
            <c:rich>
              <a:bodyPr/>
              <a:lstStyle/>
              <a:p>
                <a:r>
                  <a:rPr sz="1200">
                    <a:solidFill>
                      <a:srgbClr val="281F35"/>
                    </a:solidFill>
                    <a:latin typeface="DejaVu Sans"/>
                    <a:ea typeface="DejaVu Sans"/>
                    <a:cs typeface="DejaVu Sans"/>
                  </a:rPr>
                  <a:t>Nombre de valeurs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125">
                <a:solidFill>
                  <a:srgbClr val="281F35"/>
                </a:solidFill>
                <a:latin typeface="DejaVu Sans"/>
                <a:ea typeface="DejaVu Sans"/>
                <a:cs typeface="DejaVu San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fr-FR" sz="1500" b="1">
                <a:solidFill>
                  <a:srgbClr val="281F35"/>
                </a:solidFill>
                <a:latin typeface="DejaVu Sans"/>
                <a:ea typeface="DejaVu Sans"/>
                <a:cs typeface="DejaVu Sans"/>
              </a:rPr>
              <a:t>Population des 15–24 ans</a:t>
            </a:r>
          </a:p>
        </c:rich>
      </c:tx>
      <c:overlay val="0"/>
    </c:title>
    <c:autoTitleDeleted val="0"/>
    <c:plotArea>
      <c:layout/>
      <c:barChart>
        <c:barDir val="col"/>
        <c:grouping val="clustered"/>
        <c:varyColors val="0"/>
        <c:ser>
          <c:idx val="0"/>
          <c:order val="0"/>
          <c:tx>
            <c:v>Population des 15–24 ans</c:v>
          </c:tx>
          <c:spPr>
            <a:solidFill>
              <a:srgbClr val="F22B86"/>
            </a:solidFill>
          </c:spPr>
          <c:invertIfNegative val="0"/>
          <c:cat>
            <c:numRef>
              <c:f>'Chart Data'!$A$2:$A$9</c:f>
              <c:numCache>
                <c:formatCode>0</c:formatCode>
                <c:ptCount val="8"/>
                <c:pt idx="0">
                  <c:v>0</c:v>
                </c:pt>
                <c:pt idx="1">
                  <c:v>30</c:v>
                </c:pt>
                <c:pt idx="2">
                  <c:v>59</c:v>
                </c:pt>
                <c:pt idx="3">
                  <c:v>89</c:v>
                </c:pt>
                <c:pt idx="4">
                  <c:v>119</c:v>
                </c:pt>
                <c:pt idx="5">
                  <c:v>149</c:v>
                </c:pt>
                <c:pt idx="6">
                  <c:v>178</c:v>
                </c:pt>
                <c:pt idx="7">
                  <c:v>208</c:v>
                </c:pt>
              </c:numCache>
            </c:numRef>
          </c:cat>
          <c:val>
            <c:numRef>
              <c:f>'Chart Data'!$B$2:$B$9</c:f>
              <c:numCache>
                <c:formatCode>0</c:formatCode>
                <c:ptCount val="8"/>
                <c:pt idx="0">
                  <c:v>173</c:v>
                </c:pt>
                <c:pt idx="1">
                  <c:v>6</c:v>
                </c:pt>
                <c:pt idx="2">
                  <c:v>0</c:v>
                </c:pt>
                <c:pt idx="3">
                  <c:v>0</c:v>
                </c:pt>
                <c:pt idx="4">
                  <c:v>0</c:v>
                </c:pt>
                <c:pt idx="5">
                  <c:v>0</c:v>
                </c:pt>
                <c:pt idx="6">
                  <c:v>0</c:v>
                </c:pt>
                <c:pt idx="7">
                  <c:v>2</c:v>
                </c:pt>
              </c:numCache>
            </c:numRef>
          </c:val>
          <c:extLst>
            <c:ext xmlns:c16="http://schemas.microsoft.com/office/drawing/2014/chart" uri="{C3380CC4-5D6E-409C-BE32-E72D297353CC}">
              <c16:uniqueId val="{00000000-9825-4F22-9AB3-706001C67542}"/>
            </c:ext>
          </c:extLst>
        </c:ser>
        <c:dLbls>
          <c:showLegendKey val="0"/>
          <c:showVal val="0"/>
          <c:showCatName val="0"/>
          <c:showSerName val="0"/>
          <c:showPercent val="0"/>
          <c:showBubbleSize val="0"/>
        </c:dLbls>
        <c:gapWidth val="20"/>
        <c:axId val="48650112"/>
        <c:axId val="48672768"/>
      </c:barChart>
      <c:catAx>
        <c:axId val="48650112"/>
        <c:scaling>
          <c:orientation val="minMax"/>
        </c:scaling>
        <c:delete val="0"/>
        <c:axPos val="b"/>
        <c:title>
          <c:tx>
            <c:rich>
              <a:bodyPr/>
              <a:lstStyle/>
              <a:p>
                <a:r>
                  <a:rPr lang="fr-FR" sz="1200">
                    <a:solidFill>
                      <a:srgbClr val="281F35"/>
                    </a:solidFill>
                    <a:latin typeface="DejaVu Sans"/>
                    <a:ea typeface="DejaVu Sans"/>
                    <a:cs typeface="DejaVu Sans"/>
                  </a:rPr>
                  <a:t>Millions de personnes (borne inférieure des classes)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050">
                <a:solidFill>
                  <a:srgbClr val="281F35"/>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7D8DF"/>
              </a:solidFill>
              <a:prstDash val="solid"/>
            </a:ln>
          </c:spPr>
        </c:majorGridlines>
        <c:title>
          <c:tx>
            <c:rich>
              <a:bodyPr/>
              <a:lstStyle/>
              <a:p>
                <a:r>
                  <a:rPr lang="fr-FR" sz="1200">
                    <a:solidFill>
                      <a:srgbClr val="281F35"/>
                    </a:solidFill>
                    <a:latin typeface="DejaVu Sans"/>
                    <a:ea typeface="DejaVu Sans"/>
                    <a:cs typeface="DejaVu Sans"/>
                  </a:rPr>
                  <a:t>Nombre de pays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125">
                <a:solidFill>
                  <a:srgbClr val="281F35"/>
                </a:solidFill>
                <a:latin typeface="DejaVu Sans"/>
                <a:ea typeface="DejaVu Sans"/>
                <a:cs typeface="DejaVu San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fr-FR" sz="1500" b="1">
                <a:solidFill>
                  <a:srgbClr val="281F35"/>
                </a:solidFill>
                <a:latin typeface="DejaVu Sans"/>
                <a:ea typeface="DejaVu Sans"/>
                <a:cs typeface="DejaVu Sans"/>
              </a:rPr>
              <a:t>Scolarisation dans le supérieur</a:t>
            </a:r>
          </a:p>
        </c:rich>
      </c:tx>
      <c:overlay val="0"/>
    </c:title>
    <c:autoTitleDeleted val="0"/>
    <c:plotArea>
      <c:layout/>
      <c:barChart>
        <c:barDir val="col"/>
        <c:grouping val="clustered"/>
        <c:varyColors val="0"/>
        <c:ser>
          <c:idx val="0"/>
          <c:order val="0"/>
          <c:tx>
            <c:v>Scolarisation dans le supérieur</c:v>
          </c:tx>
          <c:spPr>
            <a:solidFill>
              <a:srgbClr val="651852"/>
            </a:solidFill>
          </c:spPr>
          <c:invertIfNegative val="0"/>
          <c:cat>
            <c:strRef>
              <c:f>'Chart Data'!$A$2:$A$9</c:f>
              <c:strCache>
                <c:ptCount val="8"/>
                <c:pt idx="0">
                  <c:v>2–15</c:v>
                </c:pt>
                <c:pt idx="1">
                  <c:v>15–28</c:v>
                </c:pt>
                <c:pt idx="2">
                  <c:v>28–41</c:v>
                </c:pt>
                <c:pt idx="3">
                  <c:v>41–55</c:v>
                </c:pt>
                <c:pt idx="4">
                  <c:v>55–68</c:v>
                </c:pt>
                <c:pt idx="5">
                  <c:v>68–81</c:v>
                </c:pt>
                <c:pt idx="6">
                  <c:v>81–95</c:v>
                </c:pt>
                <c:pt idx="7">
                  <c:v>95–108</c:v>
                </c:pt>
              </c:strCache>
            </c:strRef>
          </c:cat>
          <c:val>
            <c:numRef>
              <c:f>'Chart Data'!$B$2:$B$9</c:f>
              <c:numCache>
                <c:formatCode>0</c:formatCode>
                <c:ptCount val="8"/>
                <c:pt idx="0">
                  <c:v>36</c:v>
                </c:pt>
                <c:pt idx="1">
                  <c:v>21</c:v>
                </c:pt>
                <c:pt idx="2">
                  <c:v>15</c:v>
                </c:pt>
                <c:pt idx="3">
                  <c:v>17</c:v>
                </c:pt>
                <c:pt idx="4">
                  <c:v>19</c:v>
                </c:pt>
                <c:pt idx="5">
                  <c:v>14</c:v>
                </c:pt>
                <c:pt idx="6">
                  <c:v>11</c:v>
                </c:pt>
                <c:pt idx="7">
                  <c:v>2</c:v>
                </c:pt>
              </c:numCache>
            </c:numRef>
          </c:val>
          <c:extLst>
            <c:ext xmlns:c16="http://schemas.microsoft.com/office/drawing/2014/chart" uri="{C3380CC4-5D6E-409C-BE32-E72D297353CC}">
              <c16:uniqueId val="{00000000-088F-4CAB-BB19-1EC0BF81DD72}"/>
            </c:ext>
          </c:extLst>
        </c:ser>
        <c:dLbls>
          <c:showLegendKey val="0"/>
          <c:showVal val="0"/>
          <c:showCatName val="0"/>
          <c:showSerName val="0"/>
          <c:showPercent val="0"/>
          <c:showBubbleSize val="0"/>
        </c:dLbls>
        <c:gapWidth val="20"/>
        <c:axId val="48650112"/>
        <c:axId val="48672768"/>
      </c:barChart>
      <c:catAx>
        <c:axId val="48650112"/>
        <c:scaling>
          <c:orientation val="minMax"/>
        </c:scaling>
        <c:delete val="0"/>
        <c:axPos val="b"/>
        <c:title>
          <c:tx>
            <c:rich>
              <a:bodyPr/>
              <a:lstStyle/>
              <a:p>
                <a:r>
                  <a:rPr lang="fr-FR" sz="1200">
                    <a:solidFill>
                      <a:srgbClr val="281F35"/>
                    </a:solidFill>
                    <a:latin typeface="DejaVu Sans"/>
                    <a:ea typeface="DejaVu Sans"/>
                    <a:cs typeface="DejaVu Sans"/>
                  </a:rPr>
                  <a:t>Taux brut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050">
                <a:solidFill>
                  <a:srgbClr val="281F35"/>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7D8DF"/>
              </a:solidFill>
              <a:prstDash val="solid"/>
            </a:ln>
          </c:spPr>
        </c:majorGridlines>
        <c:title>
          <c:tx>
            <c:rich>
              <a:bodyPr/>
              <a:lstStyle/>
              <a:p>
                <a:r>
                  <a:rPr lang="fr-FR" sz="1200">
                    <a:solidFill>
                      <a:srgbClr val="281F35"/>
                    </a:solidFill>
                    <a:latin typeface="DejaVu Sans"/>
                    <a:ea typeface="DejaVu Sans"/>
                    <a:cs typeface="DejaVu Sans"/>
                  </a:rPr>
                  <a:t>Nombre de pays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125">
                <a:solidFill>
                  <a:srgbClr val="281F35"/>
                </a:solidFill>
                <a:latin typeface="DejaVu Sans"/>
                <a:ea typeface="DejaVu Sans"/>
                <a:cs typeface="DejaVu San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fr-FR" sz="1500" b="1">
                <a:solidFill>
                  <a:srgbClr val="281F35"/>
                </a:solidFill>
                <a:latin typeface="DejaVu Sans"/>
                <a:ea typeface="DejaVu Sans"/>
                <a:cs typeface="DejaVu Sans"/>
              </a:rPr>
              <a:t>Niveau d’études des 25 ans et plus</a:t>
            </a:r>
          </a:p>
        </c:rich>
      </c:tx>
      <c:overlay val="0"/>
    </c:title>
    <c:autoTitleDeleted val="0"/>
    <c:plotArea>
      <c:layout/>
      <c:barChart>
        <c:barDir val="col"/>
        <c:grouping val="clustered"/>
        <c:varyColors val="0"/>
        <c:ser>
          <c:idx val="0"/>
          <c:order val="0"/>
          <c:tx>
            <c:v>Niveau d’études des 25 ans et plus</c:v>
          </c:tx>
          <c:spPr>
            <a:solidFill>
              <a:srgbClr val="F22B86"/>
            </a:solidFill>
          </c:spPr>
          <c:invertIfNegative val="0"/>
          <c:cat>
            <c:strRef>
              <c:f>'Chart Data'!$A$2:$A$9</c:f>
              <c:strCache>
                <c:ptCount val="8"/>
                <c:pt idx="0">
                  <c:v>24–32</c:v>
                </c:pt>
                <c:pt idx="1">
                  <c:v>32–40</c:v>
                </c:pt>
                <c:pt idx="2">
                  <c:v>40–48</c:v>
                </c:pt>
                <c:pt idx="3">
                  <c:v>48–56</c:v>
                </c:pt>
                <c:pt idx="4">
                  <c:v>56–64</c:v>
                </c:pt>
                <c:pt idx="5">
                  <c:v>64–73</c:v>
                </c:pt>
                <c:pt idx="6">
                  <c:v>73–81</c:v>
                </c:pt>
                <c:pt idx="7">
                  <c:v>81–89</c:v>
                </c:pt>
              </c:strCache>
            </c:strRef>
          </c:cat>
          <c:val>
            <c:numRef>
              <c:f>'Chart Data'!$B$2:$B$9</c:f>
              <c:numCache>
                <c:formatCode>0</c:formatCode>
                <c:ptCount val="8"/>
                <c:pt idx="0">
                  <c:v>7</c:v>
                </c:pt>
                <c:pt idx="1">
                  <c:v>7</c:v>
                </c:pt>
                <c:pt idx="2">
                  <c:v>4</c:v>
                </c:pt>
                <c:pt idx="3">
                  <c:v>2</c:v>
                </c:pt>
                <c:pt idx="4">
                  <c:v>4</c:v>
                </c:pt>
                <c:pt idx="5">
                  <c:v>8</c:v>
                </c:pt>
                <c:pt idx="6">
                  <c:v>10</c:v>
                </c:pt>
                <c:pt idx="7">
                  <c:v>11</c:v>
                </c:pt>
              </c:numCache>
            </c:numRef>
          </c:val>
          <c:extLst>
            <c:ext xmlns:c16="http://schemas.microsoft.com/office/drawing/2014/chart" uri="{C3380CC4-5D6E-409C-BE32-E72D297353CC}">
              <c16:uniqueId val="{00000000-DF40-4039-A20B-CAC119C6E20B}"/>
            </c:ext>
          </c:extLst>
        </c:ser>
        <c:dLbls>
          <c:showLegendKey val="0"/>
          <c:showVal val="0"/>
          <c:showCatName val="0"/>
          <c:showSerName val="0"/>
          <c:showPercent val="0"/>
          <c:showBubbleSize val="0"/>
        </c:dLbls>
        <c:gapWidth val="20"/>
        <c:axId val="48650112"/>
        <c:axId val="48672768"/>
      </c:barChart>
      <c:catAx>
        <c:axId val="48650112"/>
        <c:scaling>
          <c:orientation val="minMax"/>
        </c:scaling>
        <c:delete val="0"/>
        <c:axPos val="b"/>
        <c:title>
          <c:tx>
            <c:rich>
              <a:bodyPr/>
              <a:lstStyle/>
              <a:p>
                <a:r>
                  <a:rPr lang="fr-FR" sz="1200">
                    <a:solidFill>
                      <a:srgbClr val="281F35"/>
                    </a:solidFill>
                    <a:latin typeface="DejaVu Sans"/>
                    <a:ea typeface="DejaVu Sans"/>
                    <a:cs typeface="DejaVu Sans"/>
                  </a:rPr>
                  <a:t>Part ayant achevé au moins le secondaire supérieur (%)</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050">
                <a:solidFill>
                  <a:srgbClr val="281F35"/>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7D8DF"/>
              </a:solidFill>
              <a:prstDash val="solid"/>
            </a:ln>
          </c:spPr>
        </c:majorGridlines>
        <c:title>
          <c:tx>
            <c:rich>
              <a:bodyPr/>
              <a:lstStyle/>
              <a:p>
                <a:r>
                  <a:rPr lang="fr-FR" sz="1200">
                    <a:solidFill>
                      <a:srgbClr val="281F35"/>
                    </a:solidFill>
                    <a:latin typeface="DejaVu Sans"/>
                    <a:ea typeface="DejaVu Sans"/>
                    <a:cs typeface="DejaVu Sans"/>
                  </a:rPr>
                  <a:t>Nombre de pays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125">
                <a:solidFill>
                  <a:srgbClr val="281F35"/>
                </a:solidFill>
                <a:latin typeface="DejaVu Sans"/>
                <a:ea typeface="DejaVu Sans"/>
                <a:cs typeface="DejaVu San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fr-FR" sz="1500" b="1">
                <a:solidFill>
                  <a:srgbClr val="281F35"/>
                </a:solidFill>
                <a:latin typeface="DejaVu Sans"/>
                <a:ea typeface="DejaVu Sans"/>
                <a:cs typeface="DejaVu Sans"/>
              </a:rPr>
              <a:t>Dépenses publiques d’éducation</a:t>
            </a:r>
          </a:p>
        </c:rich>
      </c:tx>
      <c:overlay val="0"/>
    </c:title>
    <c:autoTitleDeleted val="0"/>
    <c:plotArea>
      <c:layout/>
      <c:barChart>
        <c:barDir val="col"/>
        <c:grouping val="clustered"/>
        <c:varyColors val="0"/>
        <c:ser>
          <c:idx val="0"/>
          <c:order val="0"/>
          <c:tx>
            <c:v>Dépenses publiques d’éducation</c:v>
          </c:tx>
          <c:spPr>
            <a:solidFill>
              <a:srgbClr val="651852"/>
            </a:solidFill>
          </c:spPr>
          <c:invertIfNegative val="0"/>
          <c:cat>
            <c:strRef>
              <c:f>'Chart Data'!$A$2:$A$9</c:f>
              <c:strCache>
                <c:ptCount val="8"/>
                <c:pt idx="0">
                  <c:v>1–2</c:v>
                </c:pt>
                <c:pt idx="1">
                  <c:v>2–3</c:v>
                </c:pt>
                <c:pt idx="2">
                  <c:v>3–4</c:v>
                </c:pt>
                <c:pt idx="3">
                  <c:v>4–6</c:v>
                </c:pt>
                <c:pt idx="4">
                  <c:v>6–7</c:v>
                </c:pt>
                <c:pt idx="5">
                  <c:v>7–8</c:v>
                </c:pt>
                <c:pt idx="6">
                  <c:v>8–9</c:v>
                </c:pt>
                <c:pt idx="7">
                  <c:v>9–10</c:v>
                </c:pt>
              </c:strCache>
            </c:strRef>
          </c:cat>
          <c:val>
            <c:numRef>
              <c:f>'Chart Data'!$B$2:$B$9</c:f>
              <c:numCache>
                <c:formatCode>0</c:formatCode>
                <c:ptCount val="8"/>
                <c:pt idx="0">
                  <c:v>11</c:v>
                </c:pt>
                <c:pt idx="1">
                  <c:v>18</c:v>
                </c:pt>
                <c:pt idx="2">
                  <c:v>26</c:v>
                </c:pt>
                <c:pt idx="3">
                  <c:v>32</c:v>
                </c:pt>
                <c:pt idx="4">
                  <c:v>21</c:v>
                </c:pt>
                <c:pt idx="5">
                  <c:v>8</c:v>
                </c:pt>
                <c:pt idx="6">
                  <c:v>1</c:v>
                </c:pt>
                <c:pt idx="7">
                  <c:v>3</c:v>
                </c:pt>
              </c:numCache>
            </c:numRef>
          </c:val>
          <c:extLst>
            <c:ext xmlns:c16="http://schemas.microsoft.com/office/drawing/2014/chart" uri="{C3380CC4-5D6E-409C-BE32-E72D297353CC}">
              <c16:uniqueId val="{00000000-B1B4-42D6-9977-6E305D4CD2CC}"/>
            </c:ext>
          </c:extLst>
        </c:ser>
        <c:dLbls>
          <c:showLegendKey val="0"/>
          <c:showVal val="0"/>
          <c:showCatName val="0"/>
          <c:showSerName val="0"/>
          <c:showPercent val="0"/>
          <c:showBubbleSize val="0"/>
        </c:dLbls>
        <c:gapWidth val="20"/>
        <c:axId val="48650112"/>
        <c:axId val="48672768"/>
      </c:barChart>
      <c:catAx>
        <c:axId val="48650112"/>
        <c:scaling>
          <c:orientation val="minMax"/>
        </c:scaling>
        <c:delete val="0"/>
        <c:axPos val="b"/>
        <c:title>
          <c:tx>
            <c:rich>
              <a:bodyPr/>
              <a:lstStyle/>
              <a:p>
                <a:r>
                  <a:rPr lang="fr-FR" sz="1200">
                    <a:solidFill>
                      <a:srgbClr val="281F35"/>
                    </a:solidFill>
                    <a:latin typeface="DejaVu Sans"/>
                    <a:ea typeface="DejaVu Sans"/>
                    <a:cs typeface="DejaVu Sans"/>
                  </a:rPr>
                  <a:t>Pourcentage du PIB</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050">
                <a:solidFill>
                  <a:srgbClr val="281F35"/>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7D8DF"/>
              </a:solidFill>
              <a:prstDash val="solid"/>
            </a:ln>
          </c:spPr>
        </c:majorGridlines>
        <c:title>
          <c:tx>
            <c:rich>
              <a:bodyPr/>
              <a:lstStyle/>
              <a:p>
                <a:r>
                  <a:rPr lang="fr-FR" sz="1200">
                    <a:solidFill>
                      <a:srgbClr val="281F35"/>
                    </a:solidFill>
                    <a:latin typeface="DejaVu Sans"/>
                    <a:ea typeface="DejaVu Sans"/>
                    <a:cs typeface="DejaVu Sans"/>
                  </a:rPr>
                  <a:t>Nombre de pays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125">
                <a:solidFill>
                  <a:srgbClr val="281F35"/>
                </a:solidFill>
                <a:latin typeface="DejaVu Sans"/>
                <a:ea typeface="DejaVu Sans"/>
                <a:cs typeface="DejaVu San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lang="fr-FR" sz="1500" b="1">
                <a:solidFill>
                  <a:srgbClr val="281F35"/>
                </a:solidFill>
                <a:latin typeface="DejaVu Sans"/>
                <a:ea typeface="DejaVu Sans"/>
                <a:cs typeface="DejaVu Sans"/>
              </a:rPr>
              <a:t>Disponibilité sur les quatre critères finaux</a:t>
            </a:r>
          </a:p>
        </c:rich>
      </c:tx>
      <c:overlay val="0"/>
    </c:title>
    <c:autoTitleDeleted val="0"/>
    <c:plotArea>
      <c:layout/>
      <c:barChart>
        <c:barDir val="col"/>
        <c:grouping val="clustered"/>
        <c:varyColors val="0"/>
        <c:ser>
          <c:idx val="0"/>
          <c:order val="0"/>
          <c:tx>
            <c:v>Disponibilité sur les quatre critères finaux</c:v>
          </c:tx>
          <c:spPr>
            <a:solidFill>
              <a:srgbClr val="651852"/>
            </a:solidFill>
          </c:spPr>
          <c:invertIfNegative val="0"/>
          <c:dLbls>
            <c:numFmt formatCode="0" sourceLinked="0"/>
            <c:spPr>
              <a:noFill/>
              <a:ln>
                <a:noFill/>
              </a:ln>
              <a:effectLst/>
            </c:spPr>
            <c:txPr>
              <a:bodyPr anchorCtr="1"/>
              <a:lstStyle/>
              <a:p>
                <a:pPr>
                  <a:defRPr sz="1200" b="1">
                    <a:solidFill>
                      <a:srgbClr val="281F35"/>
                    </a:solidFill>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Pays complets</c:v>
                </c:pt>
                <c:pt idx="1">
                  <c:v>Pays incomplets</c:v>
                </c:pt>
              </c:strCache>
            </c:strRef>
          </c:cat>
          <c:val>
            <c:numRef>
              <c:f>'Chart Data'!$B$2:$B$3</c:f>
              <c:numCache>
                <c:formatCode>0</c:formatCode>
                <c:ptCount val="2"/>
                <c:pt idx="0">
                  <c:v>42</c:v>
                </c:pt>
                <c:pt idx="1">
                  <c:v>174</c:v>
                </c:pt>
              </c:numCache>
            </c:numRef>
          </c:val>
          <c:extLst>
            <c:ext xmlns:c16="http://schemas.microsoft.com/office/drawing/2014/chart" uri="{C3380CC4-5D6E-409C-BE32-E72D297353CC}">
              <c16:uniqueId val="{00000000-D86E-4140-8267-669AB4F37EAB}"/>
            </c:ext>
          </c:extLst>
        </c:ser>
        <c:dLbls>
          <c:dLblPos val="outEnd"/>
          <c:showLegendKey val="0"/>
          <c:showVal val="1"/>
          <c:showCatName val="0"/>
          <c:showSerName val="0"/>
          <c:showPercent val="0"/>
          <c:showBubbleSize val="0"/>
        </c:dLbls>
        <c:gapWidth val="20"/>
        <c:axId val="48650112"/>
        <c:axId val="48672768"/>
      </c:barChart>
      <c:catAx>
        <c:axId val="48650112"/>
        <c:scaling>
          <c:orientation val="minMax"/>
        </c:scaling>
        <c:delete val="0"/>
        <c:axPos val="b"/>
        <c:title>
          <c:tx>
            <c:rich>
              <a:bodyPr/>
              <a:lstStyle/>
              <a:p>
                <a:r>
                  <a:rPr lang="fr-FR" sz="1200">
                    <a:solidFill>
                      <a:srgbClr val="281F35"/>
                    </a:solidFill>
                    <a:latin typeface="DejaVu Sans"/>
                    <a:ea typeface="DejaVu Sans"/>
                    <a:cs typeface="DejaVu Sans"/>
                  </a:rPr>
                  <a:t>Statut de couverture</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050">
                <a:solidFill>
                  <a:srgbClr val="281F35"/>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E7D8DF"/>
              </a:solidFill>
              <a:prstDash val="solid"/>
            </a:ln>
          </c:spPr>
        </c:majorGridlines>
        <c:title>
          <c:tx>
            <c:rich>
              <a:bodyPr/>
              <a:lstStyle/>
              <a:p>
                <a:r>
                  <a:rPr lang="fr-FR" sz="1200">
                    <a:solidFill>
                      <a:srgbClr val="281F35"/>
                    </a:solidFill>
                    <a:latin typeface="DejaVu Sans"/>
                    <a:ea typeface="DejaVu Sans"/>
                    <a:cs typeface="DejaVu Sans"/>
                  </a:rPr>
                  <a:t>Nombre de pays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125">
                <a:solidFill>
                  <a:srgbClr val="281F35"/>
                </a:solidFill>
                <a:latin typeface="DejaVu Sans"/>
                <a:ea typeface="DejaVu Sans"/>
                <a:cs typeface="DejaVu San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title>
      <c:tx>
        <c:rich>
          <a:bodyPr/>
          <a:lstStyle/>
          <a:p>
            <a:r>
              <a:rPr sz="1500" b="1">
                <a:solidFill>
                  <a:srgbClr val="281F35"/>
                </a:solidFill>
                <a:latin typeface="DejaVu Sans"/>
                <a:ea typeface="DejaVu Sans"/>
                <a:cs typeface="DejaVu Sans"/>
              </a:rPr>
              <a:t>Apparitions dans les top 5</a:t>
            </a:r>
          </a:p>
        </c:rich>
      </c:tx>
      <c:overlay val="0"/>
    </c:title>
    <c:autoTitleDeleted val="0"/>
    <c:plotArea>
      <c:layout/>
      <c:barChart>
        <c:barDir val="bar"/>
        <c:grouping val="clustered"/>
        <c:varyColors val="0"/>
        <c:ser>
          <c:idx val="0"/>
          <c:order val="0"/>
          <c:tx>
            <c:v>Apparitions dans les top 5</c:v>
          </c:tx>
          <c:spPr>
            <a:solidFill>
              <a:srgbClr val="F22B86"/>
            </a:solidFill>
          </c:spPr>
          <c:invertIfNegative val="0"/>
          <c:dLbls>
            <c:numFmt formatCode="0" sourceLinked="0"/>
            <c:spPr>
              <a:noFill/>
              <a:ln>
                <a:noFill/>
              </a:ln>
              <a:effectLst/>
            </c:spPr>
            <c:txPr>
              <a:bodyPr anchorCtr="1"/>
              <a:lstStyle/>
              <a:p>
                <a:pPr>
                  <a:defRPr sz="1200" b="1">
                    <a:solidFill>
                      <a:srgbClr val="281F35"/>
                    </a:solidFill>
                    <a:latin typeface="DejaVu Sans"/>
                    <a:ea typeface="DejaVu Sans"/>
                    <a:cs typeface="DejaVu San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Data'!$A$2:$A$6</c:f>
              <c:strCache>
                <c:ptCount val="5"/>
                <c:pt idx="0">
                  <c:v>Danemark</c:v>
                </c:pt>
                <c:pt idx="1">
                  <c:v>République tchèque</c:v>
                </c:pt>
                <c:pt idx="2">
                  <c:v>Moldavie</c:v>
                </c:pt>
                <c:pt idx="3">
                  <c:v>Azerbaïdjan</c:v>
                </c:pt>
                <c:pt idx="4">
                  <c:v>États-Unis</c:v>
                </c:pt>
              </c:strCache>
            </c:strRef>
          </c:cat>
          <c:val>
            <c:numRef>
              <c:f>'Chart Data'!$B$2:$B$6</c:f>
              <c:numCache>
                <c:formatCode>0</c:formatCode>
                <c:ptCount val="5"/>
                <c:pt idx="0">
                  <c:v>1</c:v>
                </c:pt>
                <c:pt idx="1">
                  <c:v>1</c:v>
                </c:pt>
                <c:pt idx="2">
                  <c:v>1</c:v>
                </c:pt>
                <c:pt idx="3">
                  <c:v>1</c:v>
                </c:pt>
                <c:pt idx="4">
                  <c:v>3</c:v>
                </c:pt>
              </c:numCache>
            </c:numRef>
          </c:val>
          <c:extLst>
            <c:ext xmlns:c16="http://schemas.microsoft.com/office/drawing/2014/chart" uri="{C3380CC4-5D6E-409C-BE32-E72D297353CC}">
              <c16:uniqueId val="{00000000-A473-4D0B-ADE2-67C8539722F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l"/>
        <c:title>
          <c:tx>
            <c:rich>
              <a:bodyPr/>
              <a:lstStyle/>
              <a:p>
                <a:r>
                  <a:rPr sz="1200">
                    <a:solidFill>
                      <a:srgbClr val="281F35"/>
                    </a:solidFill>
                    <a:latin typeface="DejaVu Sans"/>
                    <a:ea typeface="DejaVu Sans"/>
                    <a:cs typeface="DejaVu Sans"/>
                  </a:rPr>
                  <a:t>Pays</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050">
                <a:solidFill>
                  <a:srgbClr val="281F35"/>
                </a:solidFill>
                <a:latin typeface="DejaVu Sans"/>
                <a:ea typeface="DejaVu Sans"/>
                <a:cs typeface="DejaVu Sans"/>
              </a:defRPr>
            </a:pPr>
            <a:endParaRPr lang="fr-FR"/>
          </a:p>
        </c:txPr>
        <c:crossAx val="48672768"/>
        <c:crosses val="autoZero"/>
        <c:auto val="1"/>
        <c:lblAlgn val="ctr"/>
        <c:lblOffset val="100"/>
        <c:noMultiLvlLbl val="1"/>
      </c:catAx>
      <c:valAx>
        <c:axId val="48672768"/>
        <c:scaling>
          <c:orientation val="minMax"/>
          <c:max val="4"/>
          <c:min val="0"/>
        </c:scaling>
        <c:delete val="0"/>
        <c:axPos val="b"/>
        <c:majorGridlines>
          <c:spPr>
            <a:ln w="9525">
              <a:solidFill>
                <a:srgbClr val="E7D8DF"/>
              </a:solidFill>
              <a:prstDash val="solid"/>
            </a:ln>
          </c:spPr>
        </c:majorGridlines>
        <c:title>
          <c:tx>
            <c:rich>
              <a:bodyPr/>
              <a:lstStyle/>
              <a:p>
                <a:r>
                  <a:rPr sz="1200">
                    <a:solidFill>
                      <a:srgbClr val="281F35"/>
                    </a:solidFill>
                    <a:latin typeface="DejaVu Sans"/>
                    <a:ea typeface="DejaVu Sans"/>
                    <a:cs typeface="DejaVu Sans"/>
                  </a:rPr>
                  <a:t>Nombre de critères</a:t>
                </a:r>
              </a:p>
            </c:rich>
          </c:tx>
          <c:overlay val="0"/>
        </c:title>
        <c:numFmt formatCode="0" sourceLinked="1"/>
        <c:majorTickMark val="none"/>
        <c:minorTickMark val="none"/>
        <c:tickLblPos val="nextTo"/>
        <c:spPr>
          <a:ln w="9525">
            <a:solidFill>
              <a:srgbClr val="D4D4D4"/>
            </a:solidFill>
            <a:prstDash val="solid"/>
          </a:ln>
        </c:spPr>
        <c:txPr>
          <a:bodyPr anchorCtr="1"/>
          <a:lstStyle/>
          <a:p>
            <a:pPr>
              <a:defRPr sz="1125">
                <a:solidFill>
                  <a:srgbClr val="281F35"/>
                </a:solidFill>
                <a:latin typeface="DejaVu Sans"/>
                <a:ea typeface="DejaVu Sans"/>
                <a:cs typeface="DejaVu Sans"/>
              </a:defRPr>
            </a:pPr>
            <a:endParaRPr lang="fr-FR"/>
          </a:p>
        </c:txPr>
        <c:crossAx val="48650112"/>
        <c:crosses val="autoZero"/>
        <c:crossBetween val="between"/>
        <c:majorUnit val="1"/>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 Codes : A SP.POP.1524.TO.UN ; B SE.TER.ENRR ; C UIS.EA.3T6.AG25T99 ; D SE.XPD.TOTL.GD.ZS. Source : cellules 102 et 105.</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 Pearson et Spearman figurent en cellules 98 et 100. Tableau : matrice finale Spearman, cellule 104. Les effectifs varient par paire, sans changement de base entre les contrôles.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 Histogrammes éditables reconstruits à partir des mêmes CSV et des mêmes médianes que les cellules 108 et 110. Huit classes de largeur égale par indicateur. Les bornes affichées sont arrondies. Les échantillons diffèrent du classement sur 42 pays. Un taux brut de scolarisation peut dépasser 100 %.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 Histogrammes éditables reconstruits à partir des mêmes CSV et des mêmes médianes que les cellules 108 et 110. Huit classes de largeur égale par indicateur. Les bornes affichées sont arrondies. Les échantillons diffèrent du classement sur 42 pays. Un taux brut de scolarisation peut dépasser 100 %.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 Source : cellule 113, tableau top5_par_indicateur. Les États-Unis sont 1ers en population et taux brut du supérieur, 3es en niveau d’études dans le sous-échantillon complet. L’ordre des pays avec une seule apparition dépend du rang puis du code, pas d’un score commercial.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Academy_AEDSE_NEJJAM_Wahid_2_14102026_actualise.ipynb, exécuté sur les cinq CSV EdStats. Période : 2009, 2010, 2011, 2012 et 2015. Statistique : médiane avec au moins trois années renseignées. Le classement porte sur 42 pays complets. Style inspiré du PDF pédagogique fourni.</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Academy_planning_budget.pdf, planning reconstruit en huit phases couvrant 33 tâches du notebook et la restitution. Début fourni : 14 septembre 2026, fin étudiant fournie : 16 octobre 2026. Hypothèse de temps plein, journées de 7 h, week-ends exclus. Charges estimatives, sans relevé d’heures. Expert 10 jours, étudiant 25 jours. Les tâches sont séquentielles.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 Academy_planning_budget.pdf. Les trois graphiques reprennent la comparaison globale, par phase et cumulée. Les 2 625 euros ne sont ni une rémunération, ni une dépense de France Travail. Le financement pédagogique attribuable au projet est inconnu. Aucun total global du parcours ou économie budgétaire ne peut donc être établi. Expert : hypothèse de 700 euros HT/jour, repère Malt https://www.malt.fr/a/freelance/expert-data/data-engineer consulté le 16 octobre 2026. Tarif à confirmer par devis. Réserve optionnelle de 20 pour cent : enveloppe 8 400 euros HT, hors graphiques.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Clôture de la présentation et ouverture des questions. Les échanges peuvent porter sur les données, la sélection des indicateurs, les corrélations, le classement et ses limites.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de débat fondée sur la cellule 113 du notebook actualisé : 42 pays complets et 174 exclus, soit 80,6 %. Faire discuter la priorité entre approfondir un échantillon restreint et investir dans la collecte ou l’actualisation des données. Besoin réel à préciser : quels marchés pourraient être ignorés et quelles informations supplémentaires permettraient une décision de pilote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4A7B99FB-9CAF-4ABD-B0B5-EE2343D1E5BD}"/>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734CC982-C779-4377-82F8-5A8EE0405EC5}"/>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95C067B5-7F5A-4FF3-97C8-60E7F11D88F8}"/>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42846FD-7852-4C15-886D-7F8F66E937BD}"/>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DC63BA34-BC1C-43A1-A1CE-9E771C00D983}"/>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A60F9020-6881-4071-BEE1-2D78B85D9473}"/>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DDEA9A37-CB51-4589-8C5B-6E3DB3BA69D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DF9C2297-A7DF-4094-81C1-6C6678EEE6D1}"/>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FBE24BC-859A-4124-BE2B-035FCF4B770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C4A93C85-23E9-4010-A926-03CAD4731002}"/>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chart" Target="../charts/chart1.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3.xml"/><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chart" Target="../charts/chart2.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chart" Target="../charts/chart5.xml"/><Relationship Id="rId2" Type="http://schemas.openxmlformats.org/officeDocument/2006/relationships/notesSlide" Target="../notesSlides/notesSlide10.xml"/><Relationship Id="rId1" Type="http://schemas.openxmlformats.org/officeDocument/2006/relationships/slideLayout" Target="../slideLayouts/slideLayout6.xml"/><Relationship Id="rId6" Type="http://schemas.openxmlformats.org/officeDocument/2006/relationships/chart" Target="../charts/chart4.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6.xml"/><Relationship Id="rId6" Type="http://schemas.openxmlformats.org/officeDocument/2006/relationships/chart" Target="../charts/chart6.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6.xml"/><Relationship Id="rId6" Type="http://schemas.openxmlformats.org/officeDocument/2006/relationships/chart" Target="../charts/chart7.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6.png"/><Relationship Id="rId5" Type="http://schemas.openxmlformats.org/officeDocument/2006/relationships/image" Target="../media/image3.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6.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5D3165E3-D109-4385-87CC-42F9C9516409}"/>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170525D7-01B5-4243-BB77-1B2930A6A6FC}"/>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D2FA34F3-BC74-46B9-8B01-718DA98F86F4}"/>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CBEA257D-B0A5-440E-BB7D-4B338B09B66F}"/>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Academy : des marchés à approfondir</a:t>
            </a:r>
          </a:p>
        </p:txBody>
      </p:sp>
      <p:sp>
        <p:nvSpPr>
          <p:cNvPr id="5" name="Rectangle 4">
            <a:extLst>
              <a:ext uri="{FF2B5EF4-FFF2-40B4-BE49-F238E27FC236}">
                <a16:creationId xmlns:a16="http://schemas.microsoft.com/office/drawing/2014/main" id="{5B86EECD-8ECB-4D8C-BF7D-8D5B926CFD66}"/>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Analyse exploratoire sur les données EdStats de la Banque mondiale</a:t>
            </a:r>
          </a:p>
        </p:txBody>
      </p:sp>
      <p:sp>
        <p:nvSpPr>
          <p:cNvPr id="6" name="Rectangle 5">
            <a:extLst>
              <a:ext uri="{FF2B5EF4-FFF2-40B4-BE49-F238E27FC236}">
                <a16:creationId xmlns:a16="http://schemas.microsoft.com/office/drawing/2014/main" id="{0B9C2A67-EAA2-4038-81BD-5837178E42F0}"/>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AF119E4B-7868-4A3C-A97D-275E92874EAB}"/>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a:t>
            </a:r>
          </a:p>
        </p:txBody>
      </p:sp>
      <p:sp>
        <p:nvSpPr>
          <p:cNvPr id="8" name="Rectangle 7">
            <a:extLst>
              <a:ext uri="{FF2B5EF4-FFF2-40B4-BE49-F238E27FC236}">
                <a16:creationId xmlns:a16="http://schemas.microsoft.com/office/drawing/2014/main" id="{0B4196B9-BF68-41CF-9327-CCD47598767F}"/>
              </a:ext>
            </a:extLst>
          </p:cNvPr>
          <p:cNvSpPr>
            <a:spLocks noGrp="1"/>
          </p:cNvSpPr>
          <p:nvPr/>
        </p:nvSpPr>
        <p:spPr>
          <a:xfrm>
            <a:off x="1381125" y="2286000"/>
            <a:ext cx="9906000" cy="1333500"/>
          </a:xfrm>
          <a:prstGeom prst="rect">
            <a:avLst/>
          </a:prstGeom>
          <a:noFill/>
          <a:ln w="0">
            <a:noFill/>
            <a:prstDash val="solid"/>
          </a:ln>
        </p:spPr>
        <p:txBody>
          <a:bodyPr/>
          <a:lstStyle>
            <a:defPPr>
              <a:defRPr sz="3450" b="1">
                <a:solidFill>
                  <a:srgbClr val="651852"/>
                </a:solidFill>
                <a:latin typeface="DejaVu Serif"/>
                <a:ea typeface="DejaVu Serif"/>
                <a:cs typeface="DejaVu Serif"/>
              </a:defRPr>
            </a:defPPr>
          </a:lstStyle>
          <a:p>
            <a:pPr>
              <a:defRPr sz="3450" b="1">
                <a:solidFill>
                  <a:srgbClr val="651852"/>
                </a:solidFill>
                <a:latin typeface="DejaVu Serif"/>
                <a:ea typeface="DejaVu Serif"/>
                <a:cs typeface="DejaVu Serif"/>
              </a:defRPr>
            </a:pPr>
            <a:r>
              <a:rPr sz="3450" b="1">
                <a:solidFill>
                  <a:srgbClr val="651852"/>
                </a:solidFill>
                <a:latin typeface="DejaVu Serif"/>
                <a:ea typeface="DejaVu Serif"/>
                <a:cs typeface="DejaVu Serif"/>
              </a:rPr>
              <a:t>4 indicateurs complémentaires,</a:t>
            </a:r>
          </a:p>
          <a:p>
            <a:pPr>
              <a:defRPr sz="3450" b="1">
                <a:solidFill>
                  <a:srgbClr val="651852"/>
                </a:solidFill>
                <a:latin typeface="DejaVu Serif"/>
                <a:ea typeface="DejaVu Serif"/>
                <a:cs typeface="DejaVu Serif"/>
              </a:defRPr>
            </a:pPr>
            <a:r>
              <a:rPr sz="3450" b="1">
                <a:solidFill>
                  <a:srgbClr val="651852"/>
                </a:solidFill>
                <a:latin typeface="DejaVu Serif"/>
                <a:ea typeface="DejaVu Serif"/>
                <a:cs typeface="DejaVu Serif"/>
              </a:rPr>
              <a:t>42 pays effectivement comparés</a:t>
            </a:r>
          </a:p>
        </p:txBody>
      </p:sp>
      <p:sp>
        <p:nvSpPr>
          <p:cNvPr id="9" name="Rectangle 8">
            <a:extLst>
              <a:ext uri="{FF2B5EF4-FFF2-40B4-BE49-F238E27FC236}">
                <a16:creationId xmlns:a16="http://schemas.microsoft.com/office/drawing/2014/main" id="{D3277DFE-AC44-456D-8312-AABDC43396E1}"/>
              </a:ext>
            </a:extLst>
          </p:cNvPr>
          <p:cNvSpPr>
            <a:spLocks noGrp="1"/>
          </p:cNvSpPr>
          <p:nvPr/>
        </p:nvSpPr>
        <p:spPr>
          <a:xfrm>
            <a:off x="1428750" y="4095750"/>
            <a:ext cx="9620250" cy="857250"/>
          </a:xfrm>
          <a:prstGeom prst="rect">
            <a:avLst/>
          </a:prstGeom>
          <a:noFill/>
          <a:ln w="0">
            <a:noFill/>
            <a:prstDash val="solid"/>
          </a:ln>
        </p:spPr>
        <p:txBody>
          <a:bodyPr/>
          <a:lstStyle>
            <a:defPPr>
              <a:defRPr sz="2025" b="0">
                <a:solidFill>
                  <a:srgbClr val="281F35"/>
                </a:solidFill>
                <a:latin typeface="DejaVu Sans"/>
                <a:ea typeface="DejaVu Sans"/>
                <a:cs typeface="DejaVu Sans"/>
              </a:defRPr>
            </a:defPPr>
          </a:lstStyle>
          <a:p>
            <a:pPr>
              <a:defRPr sz="2025" b="0">
                <a:solidFill>
                  <a:srgbClr val="281F35"/>
                </a:solidFill>
                <a:latin typeface="DejaVu Sans"/>
                <a:ea typeface="DejaVu Sans"/>
                <a:cs typeface="DejaVu Sans"/>
              </a:defRPr>
            </a:pPr>
            <a:r>
              <a:rPr sz="2025" b="0">
                <a:solidFill>
                  <a:srgbClr val="281F35"/>
                </a:solidFill>
                <a:latin typeface="DejaVu Sans"/>
                <a:ea typeface="DejaVu Sans"/>
                <a:cs typeface="DejaVu Sans"/>
              </a:rPr>
              <a:t>Wahid Nejjam</a:t>
            </a:r>
          </a:p>
          <a:p>
            <a:pPr>
              <a:defRPr sz="2025" b="0">
                <a:solidFill>
                  <a:srgbClr val="281F35"/>
                </a:solidFill>
                <a:latin typeface="DejaVu Sans"/>
                <a:ea typeface="DejaVu Sans"/>
                <a:cs typeface="DejaVu Sans"/>
              </a:defRPr>
            </a:pPr>
            <a:r>
              <a:rPr sz="2025" b="0">
                <a:solidFill>
                  <a:srgbClr val="281F35"/>
                </a:solidFill>
                <a:latin typeface="DejaVu Sans"/>
                <a:ea typeface="DejaVu Sans"/>
                <a:cs typeface="DejaVu Sans"/>
              </a:rPr>
              <a:t>Résultats historiques : 2009, 2010, 2011, 2012 et 2015</a:t>
            </a:r>
          </a:p>
        </p:txBody>
      </p:sp>
      <p:sp>
        <p:nvSpPr>
          <p:cNvPr id="10" name="Rectangle : coins arrondis 9">
            <a:extLst>
              <a:ext uri="{FF2B5EF4-FFF2-40B4-BE49-F238E27FC236}">
                <a16:creationId xmlns:a16="http://schemas.microsoft.com/office/drawing/2014/main" id="{6B096861-035F-48F6-A687-C6187B3EC9AD}"/>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1" name="Rectangle 10">
            <a:extLst>
              <a:ext uri="{FF2B5EF4-FFF2-40B4-BE49-F238E27FC236}">
                <a16:creationId xmlns:a16="http://schemas.microsoft.com/office/drawing/2014/main" id="{13D1CB90-603A-4658-A3B4-E3D02241E0BF}"/>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2" name="Rectangle 11">
            <a:extLst>
              <a:ext uri="{FF2B5EF4-FFF2-40B4-BE49-F238E27FC236}">
                <a16:creationId xmlns:a16="http://schemas.microsoft.com/office/drawing/2014/main" id="{C53B5AEB-D9B7-4FC9-8421-2E3289AC07F1}"/>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Une présélection exploratoire à confirmer commercialement</a:t>
            </a:r>
          </a:p>
        </p:txBody>
      </p:sp>
    </p:spTree>
    <p:extLst>
      <p:ext uri="{BB962C8B-B14F-4D97-AF65-F5344CB8AC3E}">
        <p14:creationId xmlns:p14="http://schemas.microsoft.com/office/powerpoint/2010/main" val="13262928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A79EA66A-EAF0-4892-A4B7-21007FD7C200}"/>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4118FF9B-1725-4AAF-ABD8-F74A08A366DB}"/>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F57C7611-E382-42EE-9F5C-27F986EF0C21}"/>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85412521-E44D-4A72-9CC7-D45187B344E9}"/>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 besoin de Mark</a:t>
            </a:r>
          </a:p>
        </p:txBody>
      </p:sp>
      <p:sp>
        <p:nvSpPr>
          <p:cNvPr id="5" name="Rectangle 4">
            <a:extLst>
              <a:ext uri="{FF2B5EF4-FFF2-40B4-BE49-F238E27FC236}">
                <a16:creationId xmlns:a16="http://schemas.microsoft.com/office/drawing/2014/main" id="{F4A7D3B9-7845-42E2-B671-E6DD633CB22E}"/>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Évaluer le public potentiel d’academy à l’international</a:t>
            </a:r>
          </a:p>
        </p:txBody>
      </p:sp>
      <p:sp>
        <p:nvSpPr>
          <p:cNvPr id="6" name="Rectangle 5">
            <a:extLst>
              <a:ext uri="{FF2B5EF4-FFF2-40B4-BE49-F238E27FC236}">
                <a16:creationId xmlns:a16="http://schemas.microsoft.com/office/drawing/2014/main" id="{EDEE5C70-2C90-4A8F-A80E-F6EFF9528E76}"/>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90A6B110-8B1D-4524-B50B-218C8BB73B5F}"/>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2</a:t>
            </a:r>
          </a:p>
        </p:txBody>
      </p:sp>
      <p:pic>
        <p:nvPicPr>
          <p:cNvPr id="8" name="Image 7">
            <a:extLst>
              <a:ext uri="{FF2B5EF4-FFF2-40B4-BE49-F238E27FC236}">
                <a16:creationId xmlns:a16="http://schemas.microsoft.com/office/drawing/2014/main" id="{E803FD32-955B-4A14-A236-F94779755B7B}"/>
              </a:ext>
            </a:extLst>
          </p:cNvPr>
          <p:cNvPicPr>
            <a:picLocks noChangeAspect="1"/>
          </p:cNvPicPr>
          <p:nvPr/>
        </p:nvPicPr>
        <p:blipFill>
          <a:blip r:embed="rId6"/>
          <a:stretch/>
        </p:blipFill>
        <p:spPr>
          <a:xfrm>
            <a:off x="3421856" y="1762125"/>
            <a:ext cx="5357813" cy="3571875"/>
          </a:xfrm>
          <a:prstGeom prst="rect">
            <a:avLst/>
          </a:prstGeom>
        </p:spPr>
      </p:pic>
      <p:sp>
        <p:nvSpPr>
          <p:cNvPr id="9" name="Rectangle : coins arrondis 8">
            <a:extLst>
              <a:ext uri="{FF2B5EF4-FFF2-40B4-BE49-F238E27FC236}">
                <a16:creationId xmlns:a16="http://schemas.microsoft.com/office/drawing/2014/main" id="{0B2BDEB0-FE1B-44DD-B376-35CBCD7FB203}"/>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0" name="Rectangle 9">
            <a:extLst>
              <a:ext uri="{FF2B5EF4-FFF2-40B4-BE49-F238E27FC236}">
                <a16:creationId xmlns:a16="http://schemas.microsoft.com/office/drawing/2014/main" id="{7CE4BAA1-5C21-452B-9B88-E80AE4E5D6F1}"/>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1" name="Rectangle 10">
            <a:extLst>
              <a:ext uri="{FF2B5EF4-FFF2-40B4-BE49-F238E27FC236}">
                <a16:creationId xmlns:a16="http://schemas.microsoft.com/office/drawing/2014/main" id="{FB8C5DBB-9D3E-4E30-977C-EA585B6D2E3D}"/>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Lycéens et étudiants constituent le public cible</a:t>
            </a:r>
          </a:p>
        </p:txBody>
      </p:sp>
    </p:spTree>
    <p:extLst>
      <p:ext uri="{BB962C8B-B14F-4D97-AF65-F5344CB8AC3E}">
        <p14:creationId xmlns:p14="http://schemas.microsoft.com/office/powerpoint/2010/main" val="1449557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ED22AA0E-78AD-42A7-836F-D987E735C889}"/>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52EF1C80-D147-4436-9D58-29D2B42FC9EC}"/>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A401F8B1-0C14-4D17-964D-173C06CB3CCE}"/>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CDABBD23-E46D-449B-8A7B-4601B443B466}"/>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Les cinq fichiers de départ</a:t>
            </a:r>
          </a:p>
        </p:txBody>
      </p:sp>
      <p:sp>
        <p:nvSpPr>
          <p:cNvPr id="5" name="Rectangle 4">
            <a:extLst>
              <a:ext uri="{FF2B5EF4-FFF2-40B4-BE49-F238E27FC236}">
                <a16:creationId xmlns:a16="http://schemas.microsoft.com/office/drawing/2014/main" id="{A50AB998-40FB-4429-BC05-56BF1E212A23}"/>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Une source principale et des métadonnées complémentaires</a:t>
            </a:r>
          </a:p>
        </p:txBody>
      </p:sp>
      <p:sp>
        <p:nvSpPr>
          <p:cNvPr id="6" name="Rectangle 5">
            <a:extLst>
              <a:ext uri="{FF2B5EF4-FFF2-40B4-BE49-F238E27FC236}">
                <a16:creationId xmlns:a16="http://schemas.microsoft.com/office/drawing/2014/main" id="{D571EEA5-4200-43BC-9777-3ADF71C1DE28}"/>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0F1D0269-83F4-4DFA-8DB1-934B9C7D7EA0}"/>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3</a:t>
            </a:r>
          </a:p>
        </p:txBody>
      </p:sp>
      <p:graphicFrame>
        <p:nvGraphicFramePr>
          <p:cNvPr id="8" name="Tableau 7">
            <a:extLst>
              <a:ext uri="{FF2B5EF4-FFF2-40B4-BE49-F238E27FC236}">
                <a16:creationId xmlns:a16="http://schemas.microsoft.com/office/drawing/2014/main" id="{1303EEB7-8FD6-4B4C-8D50-304FE8994751}"/>
              </a:ext>
            </a:extLst>
          </p:cNvPr>
          <p:cNvGraphicFramePr/>
          <p:nvPr/>
        </p:nvGraphicFramePr>
        <p:xfrm>
          <a:off x="1285875" y="1905000"/>
          <a:ext cx="9620250" cy="3238500"/>
        </p:xfrm>
        <a:graphic>
          <a:graphicData uri="http://schemas.openxmlformats.org/drawingml/2006/table">
            <a:tbl>
              <a:tblPr/>
              <a:tblGrid>
                <a:gridCol w="2286000">
                  <a:extLst>
                    <a:ext uri="{9D8B030D-6E8A-4147-A177-3AD203B41FA5}">
                      <a16:colId xmlns:a16="http://schemas.microsoft.com/office/drawing/2014/main" val="20000"/>
                    </a:ext>
                  </a:extLst>
                </a:gridCol>
                <a:gridCol w="2000250">
                  <a:extLst>
                    <a:ext uri="{9D8B030D-6E8A-4147-A177-3AD203B41FA5}">
                      <a16:colId xmlns:a16="http://schemas.microsoft.com/office/drawing/2014/main" val="20001"/>
                    </a:ext>
                  </a:extLst>
                </a:gridCol>
                <a:gridCol w="5334000">
                  <a:extLst>
                    <a:ext uri="{9D8B030D-6E8A-4147-A177-3AD203B41FA5}">
                      <a16:colId xmlns:a16="http://schemas.microsoft.com/office/drawing/2014/main" val="20002"/>
                    </a:ext>
                  </a:extLst>
                </a:gridCol>
              </a:tblGrid>
              <a:tr h="539750">
                <a:tc>
                  <a:txBody>
                    <a:bodyPr/>
                    <a:lstStyle/>
                    <a:p>
                      <a:r>
                        <a:rPr sz="1575" b="1">
                          <a:solidFill>
                            <a:srgbClr val="FFFFFF"/>
                          </a:solidFill>
                          <a:latin typeface="DejaVu Sans"/>
                          <a:ea typeface="DejaVu Sans"/>
                          <a:cs typeface="DejaVu Sans"/>
                        </a:rPr>
                        <a:t>Fichier</a:t>
                      </a:r>
                    </a:p>
                  </a:txBody>
                  <a:tcPr>
                    <a:lnL w="9525">
                      <a:solidFill>
                        <a:srgbClr val="E7D8DF"/>
                      </a:solidFill>
                      <a:prstDash val="soli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Lignes initiales</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Rôle</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extLst>
                  <a:ext uri="{0D108BD9-81ED-4DB2-BD59-A6C34878D82A}">
                    <a16:rowId xmlns:a16="http://schemas.microsoft.com/office/drawing/2014/main" val="10000"/>
                  </a:ext>
                </a:extLst>
              </a:tr>
              <a:tr h="539750">
                <a:tc>
                  <a:txBody>
                    <a:bodyPr/>
                    <a:lstStyle/>
                    <a:p>
                      <a:r>
                        <a:rPr sz="1575" b="0">
                          <a:solidFill>
                            <a:srgbClr val="281F35"/>
                          </a:solidFill>
                          <a:latin typeface="DejaVu Sans"/>
                          <a:ea typeface="DejaVu Sans"/>
                          <a:cs typeface="DejaVu Sans"/>
                        </a:rPr>
                        <a:t>Data</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886 930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Valeurs par pays, indicateur et année</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1"/>
                  </a:ext>
                </a:extLst>
              </a:tr>
              <a:tr h="539750">
                <a:tc>
                  <a:txBody>
                    <a:bodyPr/>
                    <a:lstStyle/>
                    <a:p>
                      <a:r>
                        <a:rPr sz="1575" b="0">
                          <a:solidFill>
                            <a:srgbClr val="281F35"/>
                          </a:solidFill>
                          <a:latin typeface="DejaVu Sans"/>
                          <a:ea typeface="DejaVu Sans"/>
                          <a:cs typeface="DejaVu Sans"/>
                        </a:rPr>
                        <a:t>Series</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3 665</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Définitions et catégories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2"/>
                  </a:ext>
                </a:extLst>
              </a:tr>
              <a:tr h="539750">
                <a:tc>
                  <a:txBody>
                    <a:bodyPr/>
                    <a:lstStyle/>
                    <a:p>
                      <a:r>
                        <a:rPr sz="1575" b="0">
                          <a:solidFill>
                            <a:srgbClr val="281F35"/>
                          </a:solidFill>
                          <a:latin typeface="DejaVu Sans"/>
                          <a:ea typeface="DejaVu Sans"/>
                          <a:cs typeface="DejaVu Sans"/>
                        </a:rPr>
                        <a:t>Country</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241</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Pays, territoires et agrégats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3"/>
                  </a:ext>
                </a:extLst>
              </a:tr>
              <a:tr h="539750">
                <a:tc>
                  <a:txBody>
                    <a:bodyPr/>
                    <a:lstStyle/>
                    <a:p>
                      <a:r>
                        <a:rPr sz="1575" b="0">
                          <a:solidFill>
                            <a:srgbClr val="281F35"/>
                          </a:solidFill>
                          <a:latin typeface="DejaVu Sans"/>
                          <a:ea typeface="DejaVu Sans"/>
                          <a:cs typeface="DejaVu Sans"/>
                        </a:rPr>
                        <a:t>FootNote</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643 638</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Annotations par pays, série et année</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4"/>
                  </a:ext>
                </a:extLst>
              </a:tr>
              <a:tr h="539750">
                <a:tc>
                  <a:txBody>
                    <a:bodyPr/>
                    <a:lstStyle/>
                    <a:p>
                      <a:r>
                        <a:rPr sz="1575" b="0">
                          <a:solidFill>
                            <a:srgbClr val="281F35"/>
                          </a:solidFill>
                          <a:latin typeface="DejaVu Sans"/>
                          <a:ea typeface="DejaVu Sans"/>
                          <a:cs typeface="DejaVu Sans"/>
                        </a:rPr>
                        <a:t>Country-Series</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613</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Contexte des couples pays–indicateur</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5"/>
                  </a:ext>
                </a:extLst>
              </a:tr>
            </a:tbl>
          </a:graphicData>
        </a:graphic>
      </p:graphicFrame>
      <p:sp>
        <p:nvSpPr>
          <p:cNvPr id="9" name="Rectangle : coins arrondis 8">
            <a:extLst>
              <a:ext uri="{FF2B5EF4-FFF2-40B4-BE49-F238E27FC236}">
                <a16:creationId xmlns:a16="http://schemas.microsoft.com/office/drawing/2014/main" id="{83B97C0D-403D-4ADF-96B5-8DDD28246045}"/>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0" name="Rectangle 9">
            <a:extLst>
              <a:ext uri="{FF2B5EF4-FFF2-40B4-BE49-F238E27FC236}">
                <a16:creationId xmlns:a16="http://schemas.microsoft.com/office/drawing/2014/main" id="{B7470AD0-EE31-4FC8-87FB-C5F1AA2706FE}"/>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1" name="Rectangle 10">
            <a:extLst>
              <a:ext uri="{FF2B5EF4-FFF2-40B4-BE49-F238E27FC236}">
                <a16:creationId xmlns:a16="http://schemas.microsoft.com/office/drawing/2014/main" id="{1BC430E1-58D3-40DC-86C0-9C69FAC9D743}"/>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Zéro doublon exact détecté dans les cinq fichiers</a:t>
            </a:r>
          </a:p>
        </p:txBody>
      </p:sp>
    </p:spTree>
    <p:extLst>
      <p:ext uri="{BB962C8B-B14F-4D97-AF65-F5344CB8AC3E}">
        <p14:creationId xmlns:p14="http://schemas.microsoft.com/office/powerpoint/2010/main" val="149123085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AF6DB097-D600-4E2F-AAA9-4390365E3AD0}"/>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3A7032AA-2B2D-441F-9AAF-A0905011320C}"/>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9812B61E-4293-4792-92E0-8574970BE009}"/>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096BECC2-EE1E-4B06-844B-3C1C15B96E1C}"/>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 nettoyage géographique</a:t>
            </a:r>
          </a:p>
        </p:txBody>
      </p:sp>
      <p:sp>
        <p:nvSpPr>
          <p:cNvPr id="5" name="Rectangle 4">
            <a:extLst>
              <a:ext uri="{FF2B5EF4-FFF2-40B4-BE49-F238E27FC236}">
                <a16:creationId xmlns:a16="http://schemas.microsoft.com/office/drawing/2014/main" id="{ADE2679C-079A-4F1D-9D9E-37DE420C1655}"/>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Un référentiel cohérent pour les comparaisons</a:t>
            </a:r>
          </a:p>
        </p:txBody>
      </p:sp>
      <p:sp>
        <p:nvSpPr>
          <p:cNvPr id="6" name="Rectangle 5">
            <a:extLst>
              <a:ext uri="{FF2B5EF4-FFF2-40B4-BE49-F238E27FC236}">
                <a16:creationId xmlns:a16="http://schemas.microsoft.com/office/drawing/2014/main" id="{E54A8823-98D8-497C-AA2D-7113688511F7}"/>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8045193A-04F8-4EA7-A3E9-E66BBFB93D56}"/>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4</a:t>
            </a:r>
          </a:p>
        </p:txBody>
      </p:sp>
      <p:sp>
        <p:nvSpPr>
          <p:cNvPr id="8" name="Rectangle : coins arrondis 7">
            <a:extLst>
              <a:ext uri="{FF2B5EF4-FFF2-40B4-BE49-F238E27FC236}">
                <a16:creationId xmlns:a16="http://schemas.microsoft.com/office/drawing/2014/main" id="{B5A34B75-8D6C-4D25-80F5-2D348412DBE1}"/>
              </a:ext>
            </a:extLst>
          </p:cNvPr>
          <p:cNvSpPr>
            <a:spLocks noGrp="1"/>
          </p:cNvSpPr>
          <p:nvPr/>
        </p:nvSpPr>
        <p:spPr>
          <a:xfrm>
            <a:off x="1047750" y="2019300"/>
            <a:ext cx="3213100" cy="3143250"/>
          </a:xfrm>
          <a:prstGeom prst="roundRect">
            <a:avLst>
              <a:gd name="adj" fmla="val 2424"/>
            </a:avLst>
          </a:prstGeom>
          <a:solidFill>
            <a:srgbClr val="FFFDFA"/>
          </a:solidFill>
          <a:ln w="9525">
            <a:solidFill>
              <a:srgbClr val="EDDAD9"/>
            </a:solidFill>
            <a:prstDash val="solid"/>
          </a:ln>
        </p:spPr>
        <p:txBody>
          <a:bodyPr/>
          <a:lstStyle/>
          <a:p>
            <a:endParaRPr lang="fr-FR"/>
          </a:p>
        </p:txBody>
      </p:sp>
      <p:sp>
        <p:nvSpPr>
          <p:cNvPr id="9" name="Rectangle 8">
            <a:extLst>
              <a:ext uri="{FF2B5EF4-FFF2-40B4-BE49-F238E27FC236}">
                <a16:creationId xmlns:a16="http://schemas.microsoft.com/office/drawing/2014/main" id="{B8C65342-A739-43F5-9F0D-84C9FCCE4B1C}"/>
              </a:ext>
            </a:extLst>
          </p:cNvPr>
          <p:cNvSpPr>
            <a:spLocks noGrp="1"/>
          </p:cNvSpPr>
          <p:nvPr/>
        </p:nvSpPr>
        <p:spPr>
          <a:xfrm>
            <a:off x="1238250" y="2171700"/>
            <a:ext cx="2832100" cy="400050"/>
          </a:xfrm>
          <a:prstGeom prst="rect">
            <a:avLst/>
          </a:prstGeom>
          <a:noFill/>
          <a:ln w="0">
            <a:noFill/>
            <a:prstDash val="solid"/>
          </a:ln>
        </p:spPr>
        <p:txBody>
          <a:bodyPr/>
          <a:lstStyle>
            <a:defPPr>
              <a:defRPr sz="2550" b="1">
                <a:solidFill>
                  <a:srgbClr val="F22B86"/>
                </a:solidFill>
                <a:latin typeface="DejaVu Sans"/>
                <a:ea typeface="DejaVu Sans"/>
                <a:cs typeface="DejaVu Sans"/>
              </a:defRPr>
            </a:defPPr>
          </a:lstStyle>
          <a:p>
            <a:pPr>
              <a:defRPr sz="2550" b="1">
                <a:solidFill>
                  <a:srgbClr val="F22B86"/>
                </a:solidFill>
                <a:latin typeface="DejaVu Sans"/>
                <a:ea typeface="DejaVu Sans"/>
                <a:cs typeface="DejaVu Sans"/>
              </a:defRPr>
            </a:pPr>
            <a:r>
              <a:rPr sz="2550" b="1">
                <a:solidFill>
                  <a:srgbClr val="F22B86"/>
                </a:solidFill>
                <a:latin typeface="DejaVu Sans"/>
                <a:ea typeface="DejaVu Sans"/>
                <a:cs typeface="DejaVu Sans"/>
              </a:rPr>
              <a:t>01</a:t>
            </a:r>
          </a:p>
        </p:txBody>
      </p:sp>
      <p:sp>
        <p:nvSpPr>
          <p:cNvPr id="10" name="Rectangle 9">
            <a:extLst>
              <a:ext uri="{FF2B5EF4-FFF2-40B4-BE49-F238E27FC236}">
                <a16:creationId xmlns:a16="http://schemas.microsoft.com/office/drawing/2014/main" id="{EE573904-1E6C-4F2F-A2DC-7AEB0E3BA4C5}"/>
              </a:ext>
            </a:extLst>
          </p:cNvPr>
          <p:cNvSpPr>
            <a:spLocks noGrp="1"/>
          </p:cNvSpPr>
          <p:nvPr/>
        </p:nvSpPr>
        <p:spPr>
          <a:xfrm>
            <a:off x="1238250" y="2724150"/>
            <a:ext cx="2832100" cy="666750"/>
          </a:xfrm>
          <a:prstGeom prst="rect">
            <a:avLst/>
          </a:prstGeom>
          <a:noFill/>
          <a:ln w="0">
            <a:noFill/>
            <a:prstDash val="solid"/>
          </a:ln>
        </p:spPr>
        <p:txBody>
          <a:bodyPr/>
          <a:lstStyle>
            <a:defPPr>
              <a:defRPr sz="2025" b="1">
                <a:solidFill>
                  <a:srgbClr val="651852"/>
                </a:solidFill>
                <a:latin typeface="DejaVu Sans"/>
                <a:ea typeface="DejaVu Sans"/>
                <a:cs typeface="DejaVu Sans"/>
              </a:defRPr>
            </a:defPPr>
          </a:lstStyle>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25 agrégats exclus</a:t>
            </a:r>
          </a:p>
        </p:txBody>
      </p:sp>
      <p:sp>
        <p:nvSpPr>
          <p:cNvPr id="11" name="Rectangle 10">
            <a:extLst>
              <a:ext uri="{FF2B5EF4-FFF2-40B4-BE49-F238E27FC236}">
                <a16:creationId xmlns:a16="http://schemas.microsoft.com/office/drawing/2014/main" id="{71FDEE31-46B0-49B1-A264-E10F7F65168B}"/>
              </a:ext>
            </a:extLst>
          </p:cNvPr>
          <p:cNvSpPr>
            <a:spLocks noGrp="1"/>
          </p:cNvSpPr>
          <p:nvPr/>
        </p:nvSpPr>
        <p:spPr>
          <a:xfrm>
            <a:off x="1238250" y="3533775"/>
            <a:ext cx="2832100" cy="1428750"/>
          </a:xfrm>
          <a:prstGeom prst="rect">
            <a:avLst/>
          </a:prstGeom>
          <a:noFill/>
          <a:ln w="0">
            <a:noFill/>
            <a:prstDash val="solid"/>
          </a:ln>
        </p:spPr>
        <p:txBody>
          <a:bodyPr/>
          <a:lstStyle>
            <a:defPPr>
              <a:defRPr sz="1725" b="0">
                <a:solidFill>
                  <a:srgbClr val="281F35"/>
                </a:solidFill>
                <a:latin typeface="DejaVu Sans"/>
                <a:ea typeface="DejaVu Sans"/>
                <a:cs typeface="DejaVu Sans"/>
              </a:defRPr>
            </a:defPPr>
          </a:lstStyle>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241 entités initiales.</a:t>
            </a:r>
          </a:p>
          <a:p>
            <a:endParaRPr sz="1725" b="0">
              <a:solidFill>
                <a:srgbClr val="281F35"/>
              </a:solidFill>
              <a:latin typeface="DejaVu Sans"/>
              <a:ea typeface="DejaVu Sans"/>
              <a:cs typeface="DejaVu Sans"/>
            </a:endParaRPr>
          </a:p>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216 pays et territoires conservés.</a:t>
            </a:r>
          </a:p>
        </p:txBody>
      </p:sp>
      <p:sp>
        <p:nvSpPr>
          <p:cNvPr id="12" name="Rectangle : coins arrondis 11">
            <a:extLst>
              <a:ext uri="{FF2B5EF4-FFF2-40B4-BE49-F238E27FC236}">
                <a16:creationId xmlns:a16="http://schemas.microsoft.com/office/drawing/2014/main" id="{60DD0B33-96CA-4D98-8AFE-B8126508AB3C}"/>
              </a:ext>
            </a:extLst>
          </p:cNvPr>
          <p:cNvSpPr>
            <a:spLocks noGrp="1"/>
          </p:cNvSpPr>
          <p:nvPr/>
        </p:nvSpPr>
        <p:spPr>
          <a:xfrm>
            <a:off x="4489450" y="2019300"/>
            <a:ext cx="3213100" cy="3143250"/>
          </a:xfrm>
          <a:prstGeom prst="roundRect">
            <a:avLst>
              <a:gd name="adj" fmla="val 2424"/>
            </a:avLst>
          </a:prstGeom>
          <a:solidFill>
            <a:srgbClr val="FFFDFA"/>
          </a:solidFill>
          <a:ln w="9525">
            <a:solidFill>
              <a:srgbClr val="EDDAD9"/>
            </a:solidFill>
            <a:prstDash val="solid"/>
          </a:ln>
        </p:spPr>
        <p:txBody>
          <a:bodyPr/>
          <a:lstStyle/>
          <a:p>
            <a:endParaRPr lang="fr-FR"/>
          </a:p>
        </p:txBody>
      </p:sp>
      <p:sp>
        <p:nvSpPr>
          <p:cNvPr id="13" name="Rectangle 12">
            <a:extLst>
              <a:ext uri="{FF2B5EF4-FFF2-40B4-BE49-F238E27FC236}">
                <a16:creationId xmlns:a16="http://schemas.microsoft.com/office/drawing/2014/main" id="{1C3E9FC3-1541-4B8A-858C-FC5E4F52690D}"/>
              </a:ext>
            </a:extLst>
          </p:cNvPr>
          <p:cNvSpPr>
            <a:spLocks noGrp="1"/>
          </p:cNvSpPr>
          <p:nvPr/>
        </p:nvSpPr>
        <p:spPr>
          <a:xfrm>
            <a:off x="4679950" y="2171700"/>
            <a:ext cx="2832100" cy="400050"/>
          </a:xfrm>
          <a:prstGeom prst="rect">
            <a:avLst/>
          </a:prstGeom>
          <a:noFill/>
          <a:ln w="0">
            <a:noFill/>
            <a:prstDash val="solid"/>
          </a:ln>
        </p:spPr>
        <p:txBody>
          <a:bodyPr/>
          <a:lstStyle>
            <a:defPPr>
              <a:defRPr sz="2550" b="1">
                <a:solidFill>
                  <a:srgbClr val="651852"/>
                </a:solidFill>
                <a:latin typeface="DejaVu Sans"/>
                <a:ea typeface="DejaVu Sans"/>
                <a:cs typeface="DejaVu Sans"/>
              </a:defRPr>
            </a:defPPr>
          </a:lstStyle>
          <a:p>
            <a:pPr>
              <a:defRPr sz="2550" b="1">
                <a:solidFill>
                  <a:srgbClr val="651852"/>
                </a:solidFill>
                <a:latin typeface="DejaVu Sans"/>
                <a:ea typeface="DejaVu Sans"/>
                <a:cs typeface="DejaVu Sans"/>
              </a:defRPr>
            </a:pPr>
            <a:r>
              <a:rPr sz="2550" b="1">
                <a:solidFill>
                  <a:srgbClr val="651852"/>
                </a:solidFill>
                <a:latin typeface="DejaVu Sans"/>
                <a:ea typeface="DejaVu Sans"/>
                <a:cs typeface="DejaVu Sans"/>
              </a:rPr>
              <a:t>02</a:t>
            </a:r>
          </a:p>
        </p:txBody>
      </p:sp>
      <p:sp>
        <p:nvSpPr>
          <p:cNvPr id="14" name="Rectangle 13">
            <a:extLst>
              <a:ext uri="{FF2B5EF4-FFF2-40B4-BE49-F238E27FC236}">
                <a16:creationId xmlns:a16="http://schemas.microsoft.com/office/drawing/2014/main" id="{00E223C0-5C0C-4D2F-9A8C-9126118E9AE6}"/>
              </a:ext>
            </a:extLst>
          </p:cNvPr>
          <p:cNvSpPr>
            <a:spLocks noGrp="1"/>
          </p:cNvSpPr>
          <p:nvPr/>
        </p:nvSpPr>
        <p:spPr>
          <a:xfrm>
            <a:off x="4679950" y="2724150"/>
            <a:ext cx="2832100" cy="666750"/>
          </a:xfrm>
          <a:prstGeom prst="rect">
            <a:avLst/>
          </a:prstGeom>
          <a:noFill/>
          <a:ln w="0">
            <a:noFill/>
            <a:prstDash val="solid"/>
          </a:ln>
        </p:spPr>
        <p:txBody>
          <a:bodyPr/>
          <a:lstStyle>
            <a:defPPr>
              <a:defRPr sz="2025" b="1">
                <a:solidFill>
                  <a:srgbClr val="651852"/>
                </a:solidFill>
                <a:latin typeface="DejaVu Sans"/>
                <a:ea typeface="DejaVu Sans"/>
                <a:cs typeface="DejaVu Sans"/>
              </a:defRPr>
            </a:defPPr>
          </a:lstStyle>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Exceptions conservées</a:t>
            </a:r>
          </a:p>
        </p:txBody>
      </p:sp>
      <p:sp>
        <p:nvSpPr>
          <p:cNvPr id="15" name="Rectangle 14">
            <a:extLst>
              <a:ext uri="{FF2B5EF4-FFF2-40B4-BE49-F238E27FC236}">
                <a16:creationId xmlns:a16="http://schemas.microsoft.com/office/drawing/2014/main" id="{7224EC6C-5DC7-4B39-974F-27D750CFE33A}"/>
              </a:ext>
            </a:extLst>
          </p:cNvPr>
          <p:cNvSpPr>
            <a:spLocks noGrp="1"/>
          </p:cNvSpPr>
          <p:nvPr/>
        </p:nvSpPr>
        <p:spPr>
          <a:xfrm>
            <a:off x="4679950" y="3533775"/>
            <a:ext cx="2832100" cy="1428750"/>
          </a:xfrm>
          <a:prstGeom prst="rect">
            <a:avLst/>
          </a:prstGeom>
          <a:noFill/>
          <a:ln w="0">
            <a:noFill/>
            <a:prstDash val="solid"/>
          </a:ln>
        </p:spPr>
        <p:txBody>
          <a:bodyPr/>
          <a:lstStyle>
            <a:defPPr>
              <a:defRPr sz="1725" b="0">
                <a:solidFill>
                  <a:srgbClr val="281F35"/>
                </a:solidFill>
                <a:latin typeface="DejaVu Sans"/>
                <a:ea typeface="DejaVu Sans"/>
                <a:cs typeface="DejaVu Sans"/>
              </a:defRPr>
            </a:defPPr>
          </a:lstStyle>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Nauru et Gibraltar restent dans le référentiel malgré une région absente.</a:t>
            </a:r>
          </a:p>
        </p:txBody>
      </p:sp>
      <p:sp>
        <p:nvSpPr>
          <p:cNvPr id="16" name="Rectangle : coins arrondis 15">
            <a:extLst>
              <a:ext uri="{FF2B5EF4-FFF2-40B4-BE49-F238E27FC236}">
                <a16:creationId xmlns:a16="http://schemas.microsoft.com/office/drawing/2014/main" id="{641E74AB-797F-4A24-9765-141D446F767E}"/>
              </a:ext>
            </a:extLst>
          </p:cNvPr>
          <p:cNvSpPr>
            <a:spLocks noGrp="1"/>
          </p:cNvSpPr>
          <p:nvPr/>
        </p:nvSpPr>
        <p:spPr>
          <a:xfrm>
            <a:off x="7931150" y="2019300"/>
            <a:ext cx="3213100" cy="3143250"/>
          </a:xfrm>
          <a:prstGeom prst="roundRect">
            <a:avLst>
              <a:gd name="adj" fmla="val 2424"/>
            </a:avLst>
          </a:prstGeom>
          <a:solidFill>
            <a:srgbClr val="FFFDFA"/>
          </a:solidFill>
          <a:ln w="9525">
            <a:solidFill>
              <a:srgbClr val="EDDAD9"/>
            </a:solidFill>
            <a:prstDash val="solid"/>
          </a:ln>
        </p:spPr>
        <p:txBody>
          <a:bodyPr/>
          <a:lstStyle/>
          <a:p>
            <a:endParaRPr lang="fr-FR"/>
          </a:p>
        </p:txBody>
      </p:sp>
      <p:sp>
        <p:nvSpPr>
          <p:cNvPr id="17" name="Rectangle 16">
            <a:extLst>
              <a:ext uri="{FF2B5EF4-FFF2-40B4-BE49-F238E27FC236}">
                <a16:creationId xmlns:a16="http://schemas.microsoft.com/office/drawing/2014/main" id="{24A88245-3CA1-413C-8947-7C235CB25000}"/>
              </a:ext>
            </a:extLst>
          </p:cNvPr>
          <p:cNvSpPr>
            <a:spLocks noGrp="1"/>
          </p:cNvSpPr>
          <p:nvPr/>
        </p:nvSpPr>
        <p:spPr>
          <a:xfrm>
            <a:off x="8121650" y="2171700"/>
            <a:ext cx="2832100" cy="400050"/>
          </a:xfrm>
          <a:prstGeom prst="rect">
            <a:avLst/>
          </a:prstGeom>
          <a:noFill/>
          <a:ln w="0">
            <a:noFill/>
            <a:prstDash val="solid"/>
          </a:ln>
        </p:spPr>
        <p:txBody>
          <a:bodyPr/>
          <a:lstStyle>
            <a:defPPr>
              <a:defRPr sz="2550" b="1">
                <a:solidFill>
                  <a:srgbClr val="F22B86"/>
                </a:solidFill>
                <a:latin typeface="DejaVu Sans"/>
                <a:ea typeface="DejaVu Sans"/>
                <a:cs typeface="DejaVu Sans"/>
              </a:defRPr>
            </a:defPPr>
          </a:lstStyle>
          <a:p>
            <a:pPr>
              <a:defRPr sz="2550" b="1">
                <a:solidFill>
                  <a:srgbClr val="F22B86"/>
                </a:solidFill>
                <a:latin typeface="DejaVu Sans"/>
                <a:ea typeface="DejaVu Sans"/>
                <a:cs typeface="DejaVu Sans"/>
              </a:defRPr>
            </a:pPr>
            <a:r>
              <a:rPr sz="2550" b="1">
                <a:solidFill>
                  <a:srgbClr val="F22B86"/>
                </a:solidFill>
                <a:latin typeface="DejaVu Sans"/>
                <a:ea typeface="DejaVu Sans"/>
                <a:cs typeface="DejaVu Sans"/>
              </a:rPr>
              <a:t>03</a:t>
            </a:r>
          </a:p>
        </p:txBody>
      </p:sp>
      <p:sp>
        <p:nvSpPr>
          <p:cNvPr id="18" name="Rectangle 17">
            <a:extLst>
              <a:ext uri="{FF2B5EF4-FFF2-40B4-BE49-F238E27FC236}">
                <a16:creationId xmlns:a16="http://schemas.microsoft.com/office/drawing/2014/main" id="{3F3B8FAE-321C-4129-B1F7-AC69E13EAB81}"/>
              </a:ext>
            </a:extLst>
          </p:cNvPr>
          <p:cNvSpPr>
            <a:spLocks noGrp="1"/>
          </p:cNvSpPr>
          <p:nvPr/>
        </p:nvSpPr>
        <p:spPr>
          <a:xfrm>
            <a:off x="8121650" y="2724150"/>
            <a:ext cx="2832100" cy="666750"/>
          </a:xfrm>
          <a:prstGeom prst="rect">
            <a:avLst/>
          </a:prstGeom>
          <a:noFill/>
          <a:ln w="0">
            <a:noFill/>
            <a:prstDash val="solid"/>
          </a:ln>
        </p:spPr>
        <p:txBody>
          <a:bodyPr/>
          <a:lstStyle>
            <a:defPPr>
              <a:defRPr sz="2025" b="1">
                <a:solidFill>
                  <a:srgbClr val="651852"/>
                </a:solidFill>
                <a:latin typeface="DejaVu Sans"/>
                <a:ea typeface="DejaVu Sans"/>
                <a:cs typeface="DejaVu Sans"/>
              </a:defRPr>
            </a:defPPr>
          </a:lstStyle>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Propagation des clés</a:t>
            </a:r>
          </a:p>
        </p:txBody>
      </p:sp>
      <p:sp>
        <p:nvSpPr>
          <p:cNvPr id="19" name="Rectangle 18">
            <a:extLst>
              <a:ext uri="{FF2B5EF4-FFF2-40B4-BE49-F238E27FC236}">
                <a16:creationId xmlns:a16="http://schemas.microsoft.com/office/drawing/2014/main" id="{F2EFC668-0C6A-40E9-A58C-8D27D2D7BAAE}"/>
              </a:ext>
            </a:extLst>
          </p:cNvPr>
          <p:cNvSpPr>
            <a:spLocks noGrp="1"/>
          </p:cNvSpPr>
          <p:nvPr/>
        </p:nvSpPr>
        <p:spPr>
          <a:xfrm>
            <a:off x="8121650" y="3533775"/>
            <a:ext cx="2832100" cy="1428750"/>
          </a:xfrm>
          <a:prstGeom prst="rect">
            <a:avLst/>
          </a:prstGeom>
          <a:noFill/>
          <a:ln w="0">
            <a:noFill/>
            <a:prstDash val="solid"/>
          </a:ln>
        </p:spPr>
        <p:txBody>
          <a:bodyPr/>
          <a:lstStyle>
            <a:defPPr>
              <a:defRPr sz="1725" b="0">
                <a:solidFill>
                  <a:srgbClr val="281F35"/>
                </a:solidFill>
                <a:latin typeface="DejaVu Sans"/>
                <a:ea typeface="DejaVu Sans"/>
                <a:cs typeface="DejaVu Sans"/>
              </a:defRPr>
            </a:defPPr>
          </a:lstStyle>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Filtres sur les codes pays.</a:t>
            </a:r>
          </a:p>
          <a:p>
            <a:endParaRPr sz="1725" b="0">
              <a:solidFill>
                <a:srgbClr val="281F35"/>
              </a:solidFill>
              <a:latin typeface="DejaVu Sans"/>
              <a:ea typeface="DejaVu Sans"/>
              <a:cs typeface="DejaVu Sans"/>
            </a:endParaRPr>
          </a:p>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Codes hors référentiel examinés et exclus des tables liées.</a:t>
            </a:r>
          </a:p>
        </p:txBody>
      </p:sp>
      <p:sp>
        <p:nvSpPr>
          <p:cNvPr id="20" name="Rectangle : coins arrondis 19">
            <a:extLst>
              <a:ext uri="{FF2B5EF4-FFF2-40B4-BE49-F238E27FC236}">
                <a16:creationId xmlns:a16="http://schemas.microsoft.com/office/drawing/2014/main" id="{F170273B-3CA0-433B-9633-F65769EFCB37}"/>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21" name="Rectangle 20">
            <a:extLst>
              <a:ext uri="{FF2B5EF4-FFF2-40B4-BE49-F238E27FC236}">
                <a16:creationId xmlns:a16="http://schemas.microsoft.com/office/drawing/2014/main" id="{9103AB82-846F-475C-AE50-16AD30666FE0}"/>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22" name="Rectangle 21">
            <a:extLst>
              <a:ext uri="{FF2B5EF4-FFF2-40B4-BE49-F238E27FC236}">
                <a16:creationId xmlns:a16="http://schemas.microsoft.com/office/drawing/2014/main" id="{537C22A3-9634-4C12-818D-4EC28DCED01E}"/>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Une région manquante constitue un signal à vérifier</a:t>
            </a:r>
          </a:p>
        </p:txBody>
      </p:sp>
    </p:spTree>
    <p:extLst>
      <p:ext uri="{BB962C8B-B14F-4D97-AF65-F5344CB8AC3E}">
        <p14:creationId xmlns:p14="http://schemas.microsoft.com/office/powerpoint/2010/main" val="414373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1830E543-4F31-44C2-8E4F-16960879B275}"/>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0D3F6607-169B-498D-AA33-1F203444E074}"/>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398B9B90-E9AE-435B-8B81-E19BE1CD2E12}"/>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BB44E802-5999-4DF7-9293-95AB458A87FF}"/>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La réduction du périmètre</a:t>
            </a:r>
          </a:p>
        </p:txBody>
      </p:sp>
      <p:sp>
        <p:nvSpPr>
          <p:cNvPr id="5" name="Rectangle 4">
            <a:extLst>
              <a:ext uri="{FF2B5EF4-FFF2-40B4-BE49-F238E27FC236}">
                <a16:creationId xmlns:a16="http://schemas.microsoft.com/office/drawing/2014/main" id="{97E988A9-4BA3-4F00-BFF7-C90B85415262}"/>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Le besoin métier puis la couverture guident la sélection</a:t>
            </a:r>
          </a:p>
        </p:txBody>
      </p:sp>
      <p:sp>
        <p:nvSpPr>
          <p:cNvPr id="6" name="Rectangle 5">
            <a:extLst>
              <a:ext uri="{FF2B5EF4-FFF2-40B4-BE49-F238E27FC236}">
                <a16:creationId xmlns:a16="http://schemas.microsoft.com/office/drawing/2014/main" id="{340D4B19-CED3-492B-86E1-869B8DB8C682}"/>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C8D50029-DBAC-4567-A103-026FC857F667}"/>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5</a:t>
            </a:r>
          </a:p>
        </p:txBody>
      </p:sp>
      <p:graphicFrame>
        <p:nvGraphicFramePr>
          <p:cNvPr id="8" name="Tableau 7">
            <a:extLst>
              <a:ext uri="{FF2B5EF4-FFF2-40B4-BE49-F238E27FC236}">
                <a16:creationId xmlns:a16="http://schemas.microsoft.com/office/drawing/2014/main" id="{B4D0E09F-38C6-48AB-8E29-8387EA1BBCD0}"/>
              </a:ext>
            </a:extLst>
          </p:cNvPr>
          <p:cNvGraphicFramePr/>
          <p:nvPr/>
        </p:nvGraphicFramePr>
        <p:xfrm>
          <a:off x="1285875" y="1905000"/>
          <a:ext cx="9620250" cy="3238500"/>
        </p:xfrm>
        <a:graphic>
          <a:graphicData uri="http://schemas.openxmlformats.org/drawingml/2006/table">
            <a:tbl>
              <a:tblPr/>
              <a:tblGrid>
                <a:gridCol w="3238500">
                  <a:extLst>
                    <a:ext uri="{9D8B030D-6E8A-4147-A177-3AD203B41FA5}">
                      <a16:colId xmlns:a16="http://schemas.microsoft.com/office/drawing/2014/main" val="20000"/>
                    </a:ext>
                  </a:extLst>
                </a:gridCol>
                <a:gridCol w="1619250">
                  <a:extLst>
                    <a:ext uri="{9D8B030D-6E8A-4147-A177-3AD203B41FA5}">
                      <a16:colId xmlns:a16="http://schemas.microsoft.com/office/drawing/2014/main" val="20001"/>
                    </a:ext>
                  </a:extLst>
                </a:gridCol>
                <a:gridCol w="4762500">
                  <a:extLst>
                    <a:ext uri="{9D8B030D-6E8A-4147-A177-3AD203B41FA5}">
                      <a16:colId xmlns:a16="http://schemas.microsoft.com/office/drawing/2014/main" val="20002"/>
                    </a:ext>
                  </a:extLst>
                </a:gridCol>
              </a:tblGrid>
              <a:tr h="539750">
                <a:tc>
                  <a:txBody>
                    <a:bodyPr/>
                    <a:lstStyle/>
                    <a:p>
                      <a:r>
                        <a:rPr sz="1575" b="1">
                          <a:solidFill>
                            <a:srgbClr val="FFFFFF"/>
                          </a:solidFill>
                          <a:latin typeface="DejaVu Sans"/>
                          <a:ea typeface="DejaVu Sans"/>
                          <a:cs typeface="DejaVu Sans"/>
                        </a:rPr>
                        <a:t>Étape</a:t>
                      </a:r>
                    </a:p>
                  </a:txBody>
                  <a:tcPr>
                    <a:lnL w="9525">
                      <a:solidFill>
                        <a:srgbClr val="E7D8DF"/>
                      </a:solidFill>
                      <a:prstDash val="soli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Indicateurs</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Décision</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extLst>
                  <a:ext uri="{0D108BD9-81ED-4DB2-BD59-A6C34878D82A}">
                    <a16:rowId xmlns:a16="http://schemas.microsoft.com/office/drawing/2014/main" val="10000"/>
                  </a:ext>
                </a:extLst>
              </a:tr>
              <a:tr h="539750">
                <a:tc>
                  <a:txBody>
                    <a:bodyPr/>
                    <a:lstStyle/>
                    <a:p>
                      <a:r>
                        <a:rPr sz="1575" b="0">
                          <a:solidFill>
                            <a:srgbClr val="281F35"/>
                          </a:solidFill>
                          <a:latin typeface="DejaVu Sans"/>
                          <a:ea typeface="DejaVu Sans"/>
                          <a:cs typeface="DejaVu Sans"/>
                        </a:rPr>
                        <a:t>Fichier Series initial</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3 665</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Examiner les catégories Topic</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1"/>
                  </a:ext>
                </a:extLst>
              </a:tr>
              <a:tr h="539750">
                <a:tc>
                  <a:txBody>
                    <a:bodyPr/>
                    <a:lstStyle/>
                    <a:p>
                      <a:r>
                        <a:rPr sz="1575" b="0">
                          <a:solidFill>
                            <a:srgbClr val="281F35"/>
                          </a:solidFill>
                          <a:latin typeface="DejaVu Sans"/>
                          <a:ea typeface="DejaVu Sans"/>
                          <a:cs typeface="DejaVu Sans"/>
                        </a:rPr>
                        <a:t>Sélection métier</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2 925</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Conserver les catégories pertinentes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2"/>
                  </a:ext>
                </a:extLst>
              </a:tr>
              <a:tr h="539750">
                <a:tc>
                  <a:txBody>
                    <a:bodyPr/>
                    <a:lstStyle/>
                    <a:p>
                      <a:r>
                        <a:rPr sz="1575" b="0">
                          <a:solidFill>
                            <a:srgbClr val="281F35"/>
                          </a:solidFill>
                          <a:latin typeface="DejaVu Sans"/>
                          <a:ea typeface="DejaVu Sans"/>
                          <a:cs typeface="DejaVu Sans"/>
                        </a:rPr>
                        <a:t>Sélection par richesse</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11</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Période et couverture documentées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3"/>
                  </a:ext>
                </a:extLst>
              </a:tr>
              <a:tr h="539750">
                <a:tc>
                  <a:txBody>
                    <a:bodyPr/>
                    <a:lstStyle/>
                    <a:p>
                      <a:r>
                        <a:rPr sz="1575" b="0">
                          <a:solidFill>
                            <a:srgbClr val="281F35"/>
                          </a:solidFill>
                          <a:latin typeface="DejaVu Sans"/>
                          <a:ea typeface="DejaVu Sans"/>
                          <a:cs typeface="DejaVu Sans"/>
                        </a:rPr>
                        <a:t>Exclusions métier</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9</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Retirer durée d’études et enseignants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4"/>
                  </a:ext>
                </a:extLst>
              </a:tr>
              <a:tr h="539750">
                <a:tc>
                  <a:txBody>
                    <a:bodyPr/>
                    <a:lstStyle/>
                    <a:p>
                      <a:r>
                        <a:rPr sz="1575" b="0">
                          <a:solidFill>
                            <a:srgbClr val="281F35"/>
                          </a:solidFill>
                          <a:latin typeface="DejaVu Sans"/>
                          <a:ea typeface="DejaVu Sans"/>
                          <a:cs typeface="DejaVu Sans"/>
                        </a:rPr>
                        <a:t>Réduction des corrélations</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4</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Retirer cinq signaux redondants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5"/>
                  </a:ext>
                </a:extLst>
              </a:tr>
            </a:tbl>
          </a:graphicData>
        </a:graphic>
      </p:graphicFrame>
      <p:sp>
        <p:nvSpPr>
          <p:cNvPr id="9" name="Rectangle : coins arrondis 8">
            <a:extLst>
              <a:ext uri="{FF2B5EF4-FFF2-40B4-BE49-F238E27FC236}">
                <a16:creationId xmlns:a16="http://schemas.microsoft.com/office/drawing/2014/main" id="{1B11B2B1-743D-44D1-B228-3754961C51B2}"/>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0" name="Rectangle 9">
            <a:extLst>
              <a:ext uri="{FF2B5EF4-FFF2-40B4-BE49-F238E27FC236}">
                <a16:creationId xmlns:a16="http://schemas.microsoft.com/office/drawing/2014/main" id="{C9297A80-849C-4EDB-811D-40D98CB14A93}"/>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1" name="Rectangle 10">
            <a:extLst>
              <a:ext uri="{FF2B5EF4-FFF2-40B4-BE49-F238E27FC236}">
                <a16:creationId xmlns:a16="http://schemas.microsoft.com/office/drawing/2014/main" id="{FFC19013-4B0E-4BCC-A384-509D45AB2B30}"/>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Les effectifs évoluent par étape : 11 avant réduction, 4 à la fin</a:t>
            </a:r>
          </a:p>
        </p:txBody>
      </p:sp>
    </p:spTree>
    <p:extLst>
      <p:ext uri="{BB962C8B-B14F-4D97-AF65-F5344CB8AC3E}">
        <p14:creationId xmlns:p14="http://schemas.microsoft.com/office/powerpoint/2010/main" val="3593130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2F1E54E4-DA3F-497F-A47D-FE3B9C568403}"/>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446E5D72-3E65-4BFB-BBB3-A9B172D38BAC}"/>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ACB786A9-C46A-48EE-AEC3-DF5D25C36E4D}"/>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9867E8E6-A033-4219-9701-CE16749B40BB}"/>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Les années réellement analysées</a:t>
            </a:r>
          </a:p>
        </p:txBody>
      </p:sp>
      <p:sp>
        <p:nvSpPr>
          <p:cNvPr id="5" name="Rectangle 4">
            <a:extLst>
              <a:ext uri="{FF2B5EF4-FFF2-40B4-BE49-F238E27FC236}">
                <a16:creationId xmlns:a16="http://schemas.microsoft.com/office/drawing/2014/main" id="{F6C43099-41BD-47B5-B97F-83103C22E0C8}"/>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Une sélection non continue fondée sur le remplissage</a:t>
            </a:r>
          </a:p>
        </p:txBody>
      </p:sp>
      <p:sp>
        <p:nvSpPr>
          <p:cNvPr id="6" name="Rectangle 5">
            <a:extLst>
              <a:ext uri="{FF2B5EF4-FFF2-40B4-BE49-F238E27FC236}">
                <a16:creationId xmlns:a16="http://schemas.microsoft.com/office/drawing/2014/main" id="{B1F7EC56-A7C2-469E-93DE-CB35ABEFA7BE}"/>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4C5EA02D-BD69-4C97-B0D2-AC01B6269F92}"/>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6</a:t>
            </a:r>
          </a:p>
        </p:txBody>
      </p:sp>
      <p:graphicFrame>
        <p:nvGraphicFramePr>
          <p:cNvPr id="8" name="Chart">
            <a:extLst>
              <a:ext uri="{FF2B5EF4-FFF2-40B4-BE49-F238E27FC236}">
                <a16:creationId xmlns:a16="http://schemas.microsoft.com/office/drawing/2014/main" id="{B63C5D89-1280-4F58-BF1F-80D575B202D7}"/>
              </a:ext>
            </a:extLst>
          </p:cNvPr>
          <p:cNvGraphicFramePr/>
          <p:nvPr/>
        </p:nvGraphicFramePr>
        <p:xfrm>
          <a:off x="1190625" y="1905000"/>
          <a:ext cx="7239000" cy="3333750"/>
        </p:xfrm>
        <a:graphic>
          <a:graphicData uri="http://schemas.openxmlformats.org/drawingml/2006/chart">
            <c:chart xmlns:c="http://schemas.openxmlformats.org/drawingml/2006/chart" xmlns:r="http://schemas.openxmlformats.org/officeDocument/2006/relationships" r:id="rId6"/>
          </a:graphicData>
        </a:graphic>
      </p:graphicFrame>
      <p:sp>
        <p:nvSpPr>
          <p:cNvPr id="9" name="Rectangle 8">
            <a:extLst>
              <a:ext uri="{FF2B5EF4-FFF2-40B4-BE49-F238E27FC236}">
                <a16:creationId xmlns:a16="http://schemas.microsoft.com/office/drawing/2014/main" id="{34417D5C-7707-4251-B920-7E73E447CFA7}"/>
              </a:ext>
            </a:extLst>
          </p:cNvPr>
          <p:cNvSpPr>
            <a:spLocks noGrp="1"/>
          </p:cNvSpPr>
          <p:nvPr/>
        </p:nvSpPr>
        <p:spPr>
          <a:xfrm>
            <a:off x="8763000" y="2143125"/>
            <a:ext cx="2476500" cy="2762250"/>
          </a:xfrm>
          <a:prstGeom prst="rect">
            <a:avLst/>
          </a:prstGeom>
          <a:noFill/>
          <a:ln w="0">
            <a:noFill/>
            <a:prstDash val="solid"/>
          </a:ln>
        </p:spPr>
        <p:txBody>
          <a:bodyPr/>
          <a:lstStyle>
            <a:defPPr>
              <a:defRPr sz="1800" b="0">
                <a:solidFill>
                  <a:srgbClr val="281F35"/>
                </a:solidFill>
                <a:latin typeface="DejaVu Sans"/>
                <a:ea typeface="DejaVu Sans"/>
                <a:cs typeface="DejaVu Sans"/>
              </a:defRPr>
            </a:defPPr>
          </a:lstStyle>
          <a:p>
            <a:pPr>
              <a:defRPr sz="1800" b="0">
                <a:solidFill>
                  <a:srgbClr val="281F35"/>
                </a:solidFill>
                <a:latin typeface="DejaVu Sans"/>
                <a:ea typeface="DejaVu Sans"/>
                <a:cs typeface="DejaVu Sans"/>
              </a:defRPr>
            </a:pPr>
            <a:r>
              <a:rPr sz="1800" b="0">
                <a:solidFill>
                  <a:srgbClr val="281F35"/>
                </a:solidFill>
                <a:latin typeface="DejaVu Sans"/>
                <a:ea typeface="DejaVu Sans"/>
                <a:cs typeface="DejaVu Sans"/>
              </a:rPr>
              <a:t>Médiane calculée sur ces cinq années.</a:t>
            </a:r>
          </a:p>
          <a:p>
            <a:endParaRPr sz="1800" b="0">
              <a:solidFill>
                <a:srgbClr val="281F35"/>
              </a:solidFill>
              <a:latin typeface="DejaVu Sans"/>
              <a:ea typeface="DejaVu Sans"/>
              <a:cs typeface="DejaVu Sans"/>
            </a:endParaRPr>
          </a:p>
          <a:p>
            <a:pPr>
              <a:defRPr sz="1800" b="0">
                <a:solidFill>
                  <a:srgbClr val="281F35"/>
                </a:solidFill>
                <a:latin typeface="DejaVu Sans"/>
                <a:ea typeface="DejaVu Sans"/>
                <a:cs typeface="DejaVu Sans"/>
              </a:defRPr>
            </a:pPr>
            <a:r>
              <a:rPr sz="1800" b="0">
                <a:solidFill>
                  <a:srgbClr val="281F35"/>
                </a:solidFill>
                <a:latin typeface="DejaVu Sans"/>
                <a:ea typeface="DejaVu Sans"/>
                <a:cs typeface="DejaVu Sans"/>
              </a:rPr>
              <a:t>Minimum : trois années renseignées par pays et indicateur.</a:t>
            </a:r>
          </a:p>
          <a:p>
            <a:endParaRPr sz="1800" b="0">
              <a:solidFill>
                <a:srgbClr val="281F35"/>
              </a:solidFill>
              <a:latin typeface="DejaVu Sans"/>
              <a:ea typeface="DejaVu Sans"/>
              <a:cs typeface="DejaVu Sans"/>
            </a:endParaRPr>
          </a:p>
          <a:p>
            <a:pPr>
              <a:defRPr sz="1800" b="0">
                <a:solidFill>
                  <a:srgbClr val="281F35"/>
                </a:solidFill>
                <a:latin typeface="DejaVu Sans"/>
                <a:ea typeface="DejaVu Sans"/>
                <a:cs typeface="DejaVu Sans"/>
              </a:defRPr>
            </a:pPr>
            <a:r>
              <a:rPr sz="1800" b="0">
                <a:solidFill>
                  <a:srgbClr val="281F35"/>
                </a:solidFill>
                <a:latin typeface="DejaVu Sans"/>
                <a:ea typeface="DejaVu Sans"/>
                <a:cs typeface="DejaVu Sans"/>
              </a:rPr>
              <a:t>Projections séparées.</a:t>
            </a:r>
          </a:p>
        </p:txBody>
      </p:sp>
      <p:sp>
        <p:nvSpPr>
          <p:cNvPr id="10" name="Rectangle : coins arrondis 9">
            <a:extLst>
              <a:ext uri="{FF2B5EF4-FFF2-40B4-BE49-F238E27FC236}">
                <a16:creationId xmlns:a16="http://schemas.microsoft.com/office/drawing/2014/main" id="{DFCB04C6-9CD5-4A77-A446-5AE40E626DAE}"/>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1" name="Rectangle 10">
            <a:extLst>
              <a:ext uri="{FF2B5EF4-FFF2-40B4-BE49-F238E27FC236}">
                <a16:creationId xmlns:a16="http://schemas.microsoft.com/office/drawing/2014/main" id="{924A164B-C396-434B-922A-83994DEE742A}"/>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2" name="Rectangle 11">
            <a:extLst>
              <a:ext uri="{FF2B5EF4-FFF2-40B4-BE49-F238E27FC236}">
                <a16:creationId xmlns:a16="http://schemas.microsoft.com/office/drawing/2014/main" id="{9E59B62E-EC86-4CF9-9F8C-C18CB67AF743}"/>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2009, 2010, 2011, 2012 et 2015 : aucune interpolation</a:t>
            </a:r>
          </a:p>
        </p:txBody>
      </p:sp>
    </p:spTree>
    <p:extLst>
      <p:ext uri="{BB962C8B-B14F-4D97-AF65-F5344CB8AC3E}">
        <p14:creationId xmlns:p14="http://schemas.microsoft.com/office/powerpoint/2010/main" val="85594303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D530BBFA-512C-4D99-A9D5-8710E23A8036}"/>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F55993D9-22DE-4A32-9CE8-B6327B139C92}"/>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1B16EBCD-CE34-4B5F-9885-5F6A6970AE9C}"/>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D3BDF459-B774-4A04-BE56-8873BBC8B61E}"/>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Les quatre indicateurs finaux</a:t>
            </a:r>
          </a:p>
        </p:txBody>
      </p:sp>
      <p:sp>
        <p:nvSpPr>
          <p:cNvPr id="5" name="Rectangle 4">
            <a:extLst>
              <a:ext uri="{FF2B5EF4-FFF2-40B4-BE49-F238E27FC236}">
                <a16:creationId xmlns:a16="http://schemas.microsoft.com/office/drawing/2014/main" id="{AB69F604-8598-4BDA-9E6A-AE6127178728}"/>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Quatre dimensions complémentaires du contexte éducatif</a:t>
            </a:r>
          </a:p>
        </p:txBody>
      </p:sp>
      <p:sp>
        <p:nvSpPr>
          <p:cNvPr id="6" name="Rectangle 5">
            <a:extLst>
              <a:ext uri="{FF2B5EF4-FFF2-40B4-BE49-F238E27FC236}">
                <a16:creationId xmlns:a16="http://schemas.microsoft.com/office/drawing/2014/main" id="{8B3A0978-3D73-4EA0-A156-04C889798FA7}"/>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79CBD2EC-A61B-4D71-A9E3-161AD73078BB}"/>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7</a:t>
            </a:r>
          </a:p>
        </p:txBody>
      </p:sp>
      <p:graphicFrame>
        <p:nvGraphicFramePr>
          <p:cNvPr id="8" name="Tableau 7">
            <a:extLst>
              <a:ext uri="{FF2B5EF4-FFF2-40B4-BE49-F238E27FC236}">
                <a16:creationId xmlns:a16="http://schemas.microsoft.com/office/drawing/2014/main" id="{376E35C3-A3E6-4225-9BA7-9E0E8980626A}"/>
              </a:ext>
            </a:extLst>
          </p:cNvPr>
          <p:cNvGraphicFramePr/>
          <p:nvPr/>
        </p:nvGraphicFramePr>
        <p:xfrm>
          <a:off x="1190625" y="1952625"/>
          <a:ext cx="9810750" cy="3143250"/>
        </p:xfrm>
        <a:graphic>
          <a:graphicData uri="http://schemas.openxmlformats.org/drawingml/2006/table">
            <a:tbl>
              <a:tblPr/>
              <a:tblGrid>
                <a:gridCol w="952500">
                  <a:extLst>
                    <a:ext uri="{9D8B030D-6E8A-4147-A177-3AD203B41FA5}">
                      <a16:colId xmlns:a16="http://schemas.microsoft.com/office/drawing/2014/main" val="20000"/>
                    </a:ext>
                  </a:extLst>
                </a:gridCol>
                <a:gridCol w="6858000">
                  <a:extLst>
                    <a:ext uri="{9D8B030D-6E8A-4147-A177-3AD203B41FA5}">
                      <a16:colId xmlns:a16="http://schemas.microsoft.com/office/drawing/2014/main" val="20001"/>
                    </a:ext>
                  </a:extLst>
                </a:gridCol>
                <a:gridCol w="2000250">
                  <a:extLst>
                    <a:ext uri="{9D8B030D-6E8A-4147-A177-3AD203B41FA5}">
                      <a16:colId xmlns:a16="http://schemas.microsoft.com/office/drawing/2014/main" val="20002"/>
                    </a:ext>
                  </a:extLst>
                </a:gridCol>
              </a:tblGrid>
              <a:tr h="628650">
                <a:tc>
                  <a:txBody>
                    <a:bodyPr/>
                    <a:lstStyle/>
                    <a:p>
                      <a:r>
                        <a:rPr sz="1575" b="1">
                          <a:solidFill>
                            <a:srgbClr val="FFFFFF"/>
                          </a:solidFill>
                          <a:latin typeface="DejaVu Sans"/>
                          <a:ea typeface="DejaVu Sans"/>
                          <a:cs typeface="DejaVu Sans"/>
                        </a:rPr>
                        <a:t>Code</a:t>
                      </a:r>
                    </a:p>
                  </a:txBody>
                  <a:tcPr>
                    <a:lnL w="9525">
                      <a:solidFill>
                        <a:srgbClr val="E7D8DF"/>
                      </a:solidFill>
                      <a:prstDash val="soli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Indicateur et unité</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Pays renseignés</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extLst>
                  <a:ext uri="{0D108BD9-81ED-4DB2-BD59-A6C34878D82A}">
                    <a16:rowId xmlns:a16="http://schemas.microsoft.com/office/drawing/2014/main" val="10000"/>
                  </a:ext>
                </a:extLst>
              </a:tr>
              <a:tr h="628650">
                <a:tc>
                  <a:txBody>
                    <a:bodyPr/>
                    <a:lstStyle/>
                    <a:p>
                      <a:r>
                        <a:rPr sz="1575" b="0">
                          <a:solidFill>
                            <a:srgbClr val="281F35"/>
                          </a:solidFill>
                          <a:latin typeface="DejaVu Sans"/>
                          <a:ea typeface="DejaVu Sans"/>
                          <a:cs typeface="DejaVu Sans"/>
                        </a:rPr>
                        <a:t>A</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Population de 15 à 24 ans (personnes)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181</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1"/>
                  </a:ext>
                </a:extLst>
              </a:tr>
              <a:tr h="628650">
                <a:tc>
                  <a:txBody>
                    <a:bodyPr/>
                    <a:lstStyle/>
                    <a:p>
                      <a:r>
                        <a:rPr sz="1575" b="0">
                          <a:solidFill>
                            <a:srgbClr val="281F35"/>
                          </a:solidFill>
                          <a:latin typeface="DejaVu Sans"/>
                          <a:ea typeface="DejaVu Sans"/>
                          <a:cs typeface="DejaVu Sans"/>
                        </a:rPr>
                        <a:t>B</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Taux brut de scolarisation dans le supérieur (%)</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135</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2"/>
                  </a:ext>
                </a:extLst>
              </a:tr>
              <a:tr h="628650">
                <a:tc>
                  <a:txBody>
                    <a:bodyPr/>
                    <a:lstStyle/>
                    <a:p>
                      <a:r>
                        <a:rPr sz="1575" b="0">
                          <a:solidFill>
                            <a:srgbClr val="281F35"/>
                          </a:solidFill>
                          <a:latin typeface="DejaVu Sans"/>
                          <a:ea typeface="DejaVu Sans"/>
                          <a:cs typeface="DejaVu Sans"/>
                        </a:rPr>
                        <a:t>C</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25 ans et plus ayant au moins achevé le secondaire supérieur (%)</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53</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3"/>
                  </a:ext>
                </a:extLst>
              </a:tr>
              <a:tr h="628650">
                <a:tc>
                  <a:txBody>
                    <a:bodyPr/>
                    <a:lstStyle/>
                    <a:p>
                      <a:r>
                        <a:rPr sz="1575" b="0">
                          <a:solidFill>
                            <a:srgbClr val="281F35"/>
                          </a:solidFill>
                          <a:latin typeface="DejaVu Sans"/>
                          <a:ea typeface="DejaVu Sans"/>
                          <a:cs typeface="DejaVu Sans"/>
                        </a:rPr>
                        <a:t>D</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Dépenses publiques d’éducation (% du PIB)</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120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4"/>
                  </a:ext>
                </a:extLst>
              </a:tr>
            </a:tbl>
          </a:graphicData>
        </a:graphic>
      </p:graphicFrame>
      <p:sp>
        <p:nvSpPr>
          <p:cNvPr id="9" name="Rectangle : coins arrondis 8">
            <a:extLst>
              <a:ext uri="{FF2B5EF4-FFF2-40B4-BE49-F238E27FC236}">
                <a16:creationId xmlns:a16="http://schemas.microsoft.com/office/drawing/2014/main" id="{D2B701AC-85AE-46FB-85FD-FDD978EEBA66}"/>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0" name="Rectangle 9">
            <a:extLst>
              <a:ext uri="{FF2B5EF4-FFF2-40B4-BE49-F238E27FC236}">
                <a16:creationId xmlns:a16="http://schemas.microsoft.com/office/drawing/2014/main" id="{E3CED6C6-80E1-4887-B370-A9AD8DB3AE1F}"/>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1" name="Rectangle 10">
            <a:extLst>
              <a:ext uri="{FF2B5EF4-FFF2-40B4-BE49-F238E27FC236}">
                <a16:creationId xmlns:a16="http://schemas.microsoft.com/office/drawing/2014/main" id="{BFB7CFDA-2ADC-46D6-ABBD-0D28F7B3D4D8}"/>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Le niveau d’études est renseigné pour seulement 53 pays</a:t>
            </a:r>
          </a:p>
        </p:txBody>
      </p:sp>
    </p:spTree>
    <p:extLst>
      <p:ext uri="{BB962C8B-B14F-4D97-AF65-F5344CB8AC3E}">
        <p14:creationId xmlns:p14="http://schemas.microsoft.com/office/powerpoint/2010/main" val="995267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1D879A23-6CFB-4B93-AF97-47E5C95CE71A}"/>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1B1F0218-C82A-4430-9488-6E3EEA5D9F31}"/>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B53C2EED-31BC-4A6C-A16A-5B4005CFA022}"/>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E8BD2751-48E7-4022-98A3-DC2B8B6D1327}"/>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Les redondances ont été réduites</a:t>
            </a:r>
          </a:p>
        </p:txBody>
      </p:sp>
      <p:sp>
        <p:nvSpPr>
          <p:cNvPr id="5" name="Rectangle 4">
            <a:extLst>
              <a:ext uri="{FF2B5EF4-FFF2-40B4-BE49-F238E27FC236}">
                <a16:creationId xmlns:a16="http://schemas.microsoft.com/office/drawing/2014/main" id="{E71A242E-38C4-4AF5-BD46-41946AB0FF0C}"/>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Spearman sur les mêmes valeurs, sans imputation</a:t>
            </a:r>
          </a:p>
        </p:txBody>
      </p:sp>
      <p:sp>
        <p:nvSpPr>
          <p:cNvPr id="6" name="Rectangle 5">
            <a:extLst>
              <a:ext uri="{FF2B5EF4-FFF2-40B4-BE49-F238E27FC236}">
                <a16:creationId xmlns:a16="http://schemas.microsoft.com/office/drawing/2014/main" id="{CC595BD7-0E4D-4556-8B66-596A358DED52}"/>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6513EBFF-F46A-486E-B886-491982CEEA88}"/>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8</a:t>
            </a:r>
          </a:p>
        </p:txBody>
      </p:sp>
      <p:graphicFrame>
        <p:nvGraphicFramePr>
          <p:cNvPr id="8" name="Tableau 7">
            <a:extLst>
              <a:ext uri="{FF2B5EF4-FFF2-40B4-BE49-F238E27FC236}">
                <a16:creationId xmlns:a16="http://schemas.microsoft.com/office/drawing/2014/main" id="{642ED280-8E8D-43F4-970D-3C822FBC631D}"/>
              </a:ext>
            </a:extLst>
          </p:cNvPr>
          <p:cNvGraphicFramePr/>
          <p:nvPr/>
        </p:nvGraphicFramePr>
        <p:xfrm>
          <a:off x="1333500" y="2095500"/>
          <a:ext cx="5905500" cy="2762250"/>
        </p:xfrm>
        <a:graphic>
          <a:graphicData uri="http://schemas.openxmlformats.org/drawingml/2006/table">
            <a:tbl>
              <a:tblPr/>
              <a:tblGrid>
                <a:gridCol w="1714500">
                  <a:extLst>
                    <a:ext uri="{9D8B030D-6E8A-4147-A177-3AD203B41FA5}">
                      <a16:colId xmlns:a16="http://schemas.microsoft.com/office/drawing/2014/main" val="20000"/>
                    </a:ext>
                  </a:extLst>
                </a:gridCol>
                <a:gridCol w="1047750">
                  <a:extLst>
                    <a:ext uri="{9D8B030D-6E8A-4147-A177-3AD203B41FA5}">
                      <a16:colId xmlns:a16="http://schemas.microsoft.com/office/drawing/2014/main" val="20001"/>
                    </a:ext>
                  </a:extLst>
                </a:gridCol>
                <a:gridCol w="1047750">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gridCol w="1047750">
                  <a:extLst>
                    <a:ext uri="{9D8B030D-6E8A-4147-A177-3AD203B41FA5}">
                      <a16:colId xmlns:a16="http://schemas.microsoft.com/office/drawing/2014/main" val="20004"/>
                    </a:ext>
                  </a:extLst>
                </a:gridCol>
              </a:tblGrid>
              <a:tr h="552450">
                <a:tc>
                  <a:txBody>
                    <a:bodyPr/>
                    <a:lstStyle/>
                    <a:p>
                      <a:r>
                        <a:rPr sz="1575" b="1">
                          <a:solidFill>
                            <a:srgbClr val="FFFFFF"/>
                          </a:solidFill>
                          <a:latin typeface="DejaVu Sans"/>
                          <a:ea typeface="DejaVu Sans"/>
                          <a:cs typeface="DejaVu Sans"/>
                        </a:rPr>
                        <a:t>Spearman</a:t>
                      </a:r>
                    </a:p>
                  </a:txBody>
                  <a:tcPr>
                    <a:lnL w="9525">
                      <a:solidFill>
                        <a:srgbClr val="E7D8DF"/>
                      </a:solidFill>
                      <a:prstDash val="soli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A</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B</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C</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D</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extLst>
                  <a:ext uri="{0D108BD9-81ED-4DB2-BD59-A6C34878D82A}">
                    <a16:rowId xmlns:a16="http://schemas.microsoft.com/office/drawing/2014/main" val="10000"/>
                  </a:ext>
                </a:extLst>
              </a:tr>
              <a:tr h="552450">
                <a:tc>
                  <a:txBody>
                    <a:bodyPr/>
                    <a:lstStyle/>
                    <a:p>
                      <a:r>
                        <a:rPr sz="1575" b="0">
                          <a:solidFill>
                            <a:srgbClr val="281F35"/>
                          </a:solidFill>
                          <a:latin typeface="DejaVu Sans"/>
                          <a:ea typeface="DejaVu Sans"/>
                          <a:cs typeface="DejaVu Sans"/>
                        </a:rPr>
                        <a:t>A</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1,000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-0,105</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-0,199</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-0,156</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1"/>
                  </a:ext>
                </a:extLst>
              </a:tr>
              <a:tr h="552450">
                <a:tc>
                  <a:txBody>
                    <a:bodyPr/>
                    <a:lstStyle/>
                    <a:p>
                      <a:r>
                        <a:rPr sz="1575" b="0">
                          <a:solidFill>
                            <a:srgbClr val="281F35"/>
                          </a:solidFill>
                          <a:latin typeface="DejaVu Sans"/>
                          <a:ea typeface="DejaVu Sans"/>
                          <a:cs typeface="DejaVu Sans"/>
                        </a:rPr>
                        <a:t>B</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-0,105</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1,000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0,419</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0,433</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2"/>
                  </a:ext>
                </a:extLst>
              </a:tr>
              <a:tr h="552450">
                <a:tc>
                  <a:txBody>
                    <a:bodyPr/>
                    <a:lstStyle/>
                    <a:p>
                      <a:r>
                        <a:rPr sz="1575" b="0">
                          <a:solidFill>
                            <a:srgbClr val="281F35"/>
                          </a:solidFill>
                          <a:latin typeface="DejaVu Sans"/>
                          <a:ea typeface="DejaVu Sans"/>
                          <a:cs typeface="DejaVu Sans"/>
                        </a:rPr>
                        <a:t>C</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-0,199</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0,419</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1,000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0,220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3"/>
                  </a:ext>
                </a:extLst>
              </a:tr>
              <a:tr h="552450">
                <a:tc>
                  <a:txBody>
                    <a:bodyPr/>
                    <a:lstStyle/>
                    <a:p>
                      <a:r>
                        <a:rPr sz="1575" b="0">
                          <a:solidFill>
                            <a:srgbClr val="281F35"/>
                          </a:solidFill>
                          <a:latin typeface="DejaVu Sans"/>
                          <a:ea typeface="DejaVu Sans"/>
                          <a:cs typeface="DejaVu Sans"/>
                        </a:rPr>
                        <a:t>D</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-0,156</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0,433</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0,220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1,000</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4"/>
                  </a:ext>
                </a:extLst>
              </a:tr>
            </a:tbl>
          </a:graphicData>
        </a:graphic>
      </p:graphicFrame>
      <p:sp>
        <p:nvSpPr>
          <p:cNvPr id="9" name="Rectangle 8">
            <a:extLst>
              <a:ext uri="{FF2B5EF4-FFF2-40B4-BE49-F238E27FC236}">
                <a16:creationId xmlns:a16="http://schemas.microsoft.com/office/drawing/2014/main" id="{386ED515-4614-4A2D-A0FB-8726E8144033}"/>
              </a:ext>
            </a:extLst>
          </p:cNvPr>
          <p:cNvSpPr>
            <a:spLocks noGrp="1"/>
          </p:cNvSpPr>
          <p:nvPr/>
        </p:nvSpPr>
        <p:spPr>
          <a:xfrm>
            <a:off x="7810500" y="2143125"/>
            <a:ext cx="3333750" cy="2809875"/>
          </a:xfrm>
          <a:prstGeom prst="rect">
            <a:avLst/>
          </a:prstGeom>
          <a:noFill/>
          <a:ln w="0">
            <a:noFill/>
            <a:prstDash val="solid"/>
          </a:ln>
        </p:spPr>
        <p:txBody>
          <a:bodyPr/>
          <a:lstStyle>
            <a:defPPr>
              <a:defRPr sz="2025" b="1">
                <a:solidFill>
                  <a:srgbClr val="651852"/>
                </a:solidFill>
                <a:latin typeface="DejaVu Sans"/>
                <a:ea typeface="DejaVu Sans"/>
                <a:cs typeface="DejaVu Sans"/>
              </a:defRPr>
            </a:defPPr>
          </a:lstStyle>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|r| maximal : 0,433</a:t>
            </a:r>
          </a:p>
          <a:p>
            <a:endParaRPr sz="2025" b="1">
              <a:solidFill>
                <a:srgbClr val="651852"/>
              </a:solidFill>
              <a:latin typeface="DejaVu Sans"/>
              <a:ea typeface="DejaVu Sans"/>
              <a:cs typeface="DejaVu Sans"/>
            </a:endParaRPr>
          </a:p>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Seuil : strictement inférieur à 0,70.</a:t>
            </a:r>
          </a:p>
          <a:p>
            <a:endParaRPr sz="2025" b="1">
              <a:solidFill>
                <a:srgbClr val="651852"/>
              </a:solidFill>
              <a:latin typeface="DejaVu Sans"/>
              <a:ea typeface="DejaVu Sans"/>
              <a:cs typeface="DejaVu Sans"/>
            </a:endParaRPr>
          </a:p>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Au moins 20 pays communs par paire.</a:t>
            </a:r>
          </a:p>
        </p:txBody>
      </p:sp>
      <p:sp>
        <p:nvSpPr>
          <p:cNvPr id="10" name="Rectangle : coins arrondis 9">
            <a:extLst>
              <a:ext uri="{FF2B5EF4-FFF2-40B4-BE49-F238E27FC236}">
                <a16:creationId xmlns:a16="http://schemas.microsoft.com/office/drawing/2014/main" id="{67BC127A-028C-44A4-8D4C-029D0934CF24}"/>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1" name="Rectangle 10">
            <a:extLst>
              <a:ext uri="{FF2B5EF4-FFF2-40B4-BE49-F238E27FC236}">
                <a16:creationId xmlns:a16="http://schemas.microsoft.com/office/drawing/2014/main" id="{72339B6C-EA23-4E6A-8283-D2BEEF97F3B5}"/>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2" name="Rectangle 11">
            <a:extLst>
              <a:ext uri="{FF2B5EF4-FFF2-40B4-BE49-F238E27FC236}">
                <a16:creationId xmlns:a16="http://schemas.microsoft.com/office/drawing/2014/main" id="{6970DB7B-65C0-454F-B3E1-8CC4FEE4415C}"/>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Pearson et Spearman ne démontrent aucune causalité</a:t>
            </a:r>
          </a:p>
        </p:txBody>
      </p:sp>
    </p:spTree>
    <p:extLst>
      <p:ext uri="{BB962C8B-B14F-4D97-AF65-F5344CB8AC3E}">
        <p14:creationId xmlns:p14="http://schemas.microsoft.com/office/powerpoint/2010/main" val="14994420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5959C755-5A55-49C5-BAA2-96D5B7C840A4}"/>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A945711A-7CB2-4E5A-807E-AF46F0F8D929}"/>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2E4ABFF1-3F9D-4788-B164-85B172E9651D}"/>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C10FA247-AB9D-45D6-8CBA-5461A7BDB025}"/>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 public potentiel varie fortement</a:t>
            </a:r>
          </a:p>
        </p:txBody>
      </p:sp>
      <p:sp>
        <p:nvSpPr>
          <p:cNvPr id="5" name="Rectangle 4">
            <a:extLst>
              <a:ext uri="{FF2B5EF4-FFF2-40B4-BE49-F238E27FC236}">
                <a16:creationId xmlns:a16="http://schemas.microsoft.com/office/drawing/2014/main" id="{01073F82-EA22-4D28-9C8C-D0DF179B144A}"/>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Distributions des médianes historiques sur les pays renseignés</a:t>
            </a:r>
          </a:p>
        </p:txBody>
      </p:sp>
      <p:sp>
        <p:nvSpPr>
          <p:cNvPr id="6" name="Rectangle 5">
            <a:extLst>
              <a:ext uri="{FF2B5EF4-FFF2-40B4-BE49-F238E27FC236}">
                <a16:creationId xmlns:a16="http://schemas.microsoft.com/office/drawing/2014/main" id="{031B03BB-CDB8-4A98-A9D5-6FCEEB2DBD19}"/>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C68C592A-4C83-46F8-9006-B64DFF1E8C05}"/>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9</a:t>
            </a:r>
          </a:p>
        </p:txBody>
      </p:sp>
      <p:graphicFrame>
        <p:nvGraphicFramePr>
          <p:cNvPr id="8" name="Chart">
            <a:extLst>
              <a:ext uri="{FF2B5EF4-FFF2-40B4-BE49-F238E27FC236}">
                <a16:creationId xmlns:a16="http://schemas.microsoft.com/office/drawing/2014/main" id="{E52B3674-0E86-45A9-8F89-CAB977DFD4D5}"/>
              </a:ext>
            </a:extLst>
          </p:cNvPr>
          <p:cNvGraphicFramePr/>
          <p:nvPr/>
        </p:nvGraphicFramePr>
        <p:xfrm>
          <a:off x="1047750" y="2019300"/>
          <a:ext cx="4953000" cy="3000375"/>
        </p:xfrm>
        <a:graphic>
          <a:graphicData uri="http://schemas.openxmlformats.org/drawingml/2006/chart">
            <c:chart xmlns:c="http://schemas.openxmlformats.org/drawingml/2006/chart" xmlns:r="http://schemas.openxmlformats.org/officeDocument/2006/relationships" r:id="rId6"/>
          </a:graphicData>
        </a:graphic>
      </p:graphicFrame>
      <p:sp>
        <p:nvSpPr>
          <p:cNvPr id="9" name="Rectangle 8">
            <a:extLst>
              <a:ext uri="{FF2B5EF4-FFF2-40B4-BE49-F238E27FC236}">
                <a16:creationId xmlns:a16="http://schemas.microsoft.com/office/drawing/2014/main" id="{2A790D2B-4A28-4AFA-9A32-9CAE83833F1A}"/>
              </a:ext>
            </a:extLst>
          </p:cNvPr>
          <p:cNvSpPr>
            <a:spLocks noGrp="1"/>
          </p:cNvSpPr>
          <p:nvPr/>
        </p:nvSpPr>
        <p:spPr>
          <a:xfrm>
            <a:off x="1238250" y="5076825"/>
            <a:ext cx="4762500" cy="523875"/>
          </a:xfrm>
          <a:prstGeom prst="rect">
            <a:avLst/>
          </a:prstGeom>
          <a:noFill/>
          <a:ln w="0">
            <a:noFill/>
            <a:prstDash val="solid"/>
          </a:ln>
        </p:spPr>
        <p:txBody>
          <a:bodyPr/>
          <a:lstStyle>
            <a:defPPr>
              <a:defRPr sz="1500" b="0">
                <a:solidFill>
                  <a:srgbClr val="281F35"/>
                </a:solidFill>
                <a:latin typeface="DejaVu Sans"/>
                <a:ea typeface="DejaVu Sans"/>
                <a:cs typeface="DejaVu Sans"/>
              </a:defRPr>
            </a:defPPr>
          </a:lstStyle>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n = 181 pays   Médiane = 1,32</a:t>
            </a:r>
          </a:p>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Q1 = 0,52   Q3 = 5,04</a:t>
            </a:r>
          </a:p>
        </p:txBody>
      </p:sp>
      <p:graphicFrame>
        <p:nvGraphicFramePr>
          <p:cNvPr id="10" name="Chart">
            <a:extLst>
              <a:ext uri="{FF2B5EF4-FFF2-40B4-BE49-F238E27FC236}">
                <a16:creationId xmlns:a16="http://schemas.microsoft.com/office/drawing/2014/main" id="{DA7F9729-07DF-458A-AA0F-BAF05908E385}"/>
              </a:ext>
            </a:extLst>
          </p:cNvPr>
          <p:cNvGraphicFramePr/>
          <p:nvPr/>
        </p:nvGraphicFramePr>
        <p:xfrm>
          <a:off x="6334125" y="2019300"/>
          <a:ext cx="4953000" cy="3000375"/>
        </p:xfrm>
        <a:graphic>
          <a:graphicData uri="http://schemas.openxmlformats.org/drawingml/2006/chart">
            <c:chart xmlns:c="http://schemas.openxmlformats.org/drawingml/2006/chart" xmlns:r="http://schemas.openxmlformats.org/officeDocument/2006/relationships" r:id="rId7"/>
          </a:graphicData>
        </a:graphic>
      </p:graphicFrame>
      <p:sp>
        <p:nvSpPr>
          <p:cNvPr id="11" name="Rectangle 10">
            <a:extLst>
              <a:ext uri="{FF2B5EF4-FFF2-40B4-BE49-F238E27FC236}">
                <a16:creationId xmlns:a16="http://schemas.microsoft.com/office/drawing/2014/main" id="{9A885AC2-037E-443A-870F-34483AE27C95}"/>
              </a:ext>
            </a:extLst>
          </p:cNvPr>
          <p:cNvSpPr>
            <a:spLocks noGrp="1"/>
          </p:cNvSpPr>
          <p:nvPr/>
        </p:nvSpPr>
        <p:spPr>
          <a:xfrm>
            <a:off x="6524625" y="5076825"/>
            <a:ext cx="4762500" cy="523875"/>
          </a:xfrm>
          <a:prstGeom prst="rect">
            <a:avLst/>
          </a:prstGeom>
          <a:noFill/>
          <a:ln w="0">
            <a:noFill/>
            <a:prstDash val="solid"/>
          </a:ln>
        </p:spPr>
        <p:txBody>
          <a:bodyPr/>
          <a:lstStyle>
            <a:defPPr>
              <a:defRPr sz="1500" b="0">
                <a:solidFill>
                  <a:srgbClr val="281F35"/>
                </a:solidFill>
                <a:latin typeface="DejaVu Sans"/>
                <a:ea typeface="DejaVu Sans"/>
                <a:cs typeface="DejaVu Sans"/>
              </a:defRPr>
            </a:defPPr>
          </a:lstStyle>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n = 135 pays   Médiane = 37,36</a:t>
            </a:r>
          </a:p>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Q1 = 13,43   Q3 = 62,96</a:t>
            </a:r>
          </a:p>
        </p:txBody>
      </p:sp>
      <p:sp>
        <p:nvSpPr>
          <p:cNvPr id="12" name="Rectangle : coins arrondis 11">
            <a:extLst>
              <a:ext uri="{FF2B5EF4-FFF2-40B4-BE49-F238E27FC236}">
                <a16:creationId xmlns:a16="http://schemas.microsoft.com/office/drawing/2014/main" id="{5C4463C7-8C15-4D40-A714-0F93F552E6EC}"/>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3" name="Rectangle 12">
            <a:extLst>
              <a:ext uri="{FF2B5EF4-FFF2-40B4-BE49-F238E27FC236}">
                <a16:creationId xmlns:a16="http://schemas.microsoft.com/office/drawing/2014/main" id="{20213FAE-2186-4437-B47F-088988475CF6}"/>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4" name="Rectangle 13">
            <a:extLst>
              <a:ext uri="{FF2B5EF4-FFF2-40B4-BE49-F238E27FC236}">
                <a16:creationId xmlns:a16="http://schemas.microsoft.com/office/drawing/2014/main" id="{B684639A-7AFA-414F-B240-199AD01567AF}"/>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Échantillons propres à chaque indicateur, avant le filtre des pays complets</a:t>
            </a:r>
          </a:p>
        </p:txBody>
      </p:sp>
    </p:spTree>
    <p:extLst>
      <p:ext uri="{BB962C8B-B14F-4D97-AF65-F5344CB8AC3E}">
        <p14:creationId xmlns:p14="http://schemas.microsoft.com/office/powerpoint/2010/main" val="11908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5" name="Image 14">
            <a:extLst>
              <a:ext uri="{FF2B5EF4-FFF2-40B4-BE49-F238E27FC236}">
                <a16:creationId xmlns:a16="http://schemas.microsoft.com/office/drawing/2014/main" id="{88F8E9DF-02B8-4296-BE11-DA65DA20969F}"/>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B1AD5166-6B94-4F49-8D16-46B0F2AF5AA0}"/>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6C4139A2-3A1B-424A-AE46-1EFDFFBFABF3}"/>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884DACF4-9C05-42B0-8C6B-E40903E7524C}"/>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 contexte éducatif reste hétérogène</a:t>
            </a:r>
          </a:p>
        </p:txBody>
      </p:sp>
      <p:sp>
        <p:nvSpPr>
          <p:cNvPr id="5" name="Rectangle 4">
            <a:extLst>
              <a:ext uri="{FF2B5EF4-FFF2-40B4-BE49-F238E27FC236}">
                <a16:creationId xmlns:a16="http://schemas.microsoft.com/office/drawing/2014/main" id="{38EAC89B-54EE-4D32-8347-8EA556CAD4CD}"/>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Distributions des médianes historiques sur les pays renseignés</a:t>
            </a:r>
          </a:p>
        </p:txBody>
      </p:sp>
      <p:sp>
        <p:nvSpPr>
          <p:cNvPr id="6" name="Rectangle 5">
            <a:extLst>
              <a:ext uri="{FF2B5EF4-FFF2-40B4-BE49-F238E27FC236}">
                <a16:creationId xmlns:a16="http://schemas.microsoft.com/office/drawing/2014/main" id="{22E1A643-9D8F-4281-AF4C-C8FCBB16A853}"/>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D6FE5AC0-271A-4FCD-AB59-95BA79F3BF42}"/>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10</a:t>
            </a:r>
          </a:p>
        </p:txBody>
      </p:sp>
      <p:graphicFrame>
        <p:nvGraphicFramePr>
          <p:cNvPr id="8" name="Chart">
            <a:extLst>
              <a:ext uri="{FF2B5EF4-FFF2-40B4-BE49-F238E27FC236}">
                <a16:creationId xmlns:a16="http://schemas.microsoft.com/office/drawing/2014/main" id="{23A3B913-31AA-4034-A424-331096FD33B4}"/>
              </a:ext>
            </a:extLst>
          </p:cNvPr>
          <p:cNvGraphicFramePr/>
          <p:nvPr/>
        </p:nvGraphicFramePr>
        <p:xfrm>
          <a:off x="1047750" y="2019300"/>
          <a:ext cx="4953000" cy="3000375"/>
        </p:xfrm>
        <a:graphic>
          <a:graphicData uri="http://schemas.openxmlformats.org/drawingml/2006/chart">
            <c:chart xmlns:c="http://schemas.openxmlformats.org/drawingml/2006/chart" xmlns:r="http://schemas.openxmlformats.org/officeDocument/2006/relationships" r:id="rId6"/>
          </a:graphicData>
        </a:graphic>
      </p:graphicFrame>
      <p:sp>
        <p:nvSpPr>
          <p:cNvPr id="9" name="Rectangle 8">
            <a:extLst>
              <a:ext uri="{FF2B5EF4-FFF2-40B4-BE49-F238E27FC236}">
                <a16:creationId xmlns:a16="http://schemas.microsoft.com/office/drawing/2014/main" id="{357F6827-F8DF-49DA-91AA-9DB611490DE4}"/>
              </a:ext>
            </a:extLst>
          </p:cNvPr>
          <p:cNvSpPr>
            <a:spLocks noGrp="1"/>
          </p:cNvSpPr>
          <p:nvPr/>
        </p:nvSpPr>
        <p:spPr>
          <a:xfrm>
            <a:off x="1238250" y="5076825"/>
            <a:ext cx="4762500" cy="523875"/>
          </a:xfrm>
          <a:prstGeom prst="rect">
            <a:avLst/>
          </a:prstGeom>
          <a:noFill/>
          <a:ln w="0">
            <a:noFill/>
            <a:prstDash val="solid"/>
          </a:ln>
        </p:spPr>
        <p:txBody>
          <a:bodyPr/>
          <a:lstStyle>
            <a:defPPr>
              <a:defRPr sz="1500" b="0">
                <a:solidFill>
                  <a:srgbClr val="281F35"/>
                </a:solidFill>
                <a:latin typeface="DejaVu Sans"/>
                <a:ea typeface="DejaVu Sans"/>
                <a:cs typeface="DejaVu Sans"/>
              </a:defRPr>
            </a:defPPr>
          </a:lstStyle>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n = 53 pays   Médiane = 66,57</a:t>
            </a:r>
          </a:p>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Q1 = 38,23   Q3 = 77,62</a:t>
            </a:r>
          </a:p>
        </p:txBody>
      </p:sp>
      <p:graphicFrame>
        <p:nvGraphicFramePr>
          <p:cNvPr id="10" name="Chart">
            <a:extLst>
              <a:ext uri="{FF2B5EF4-FFF2-40B4-BE49-F238E27FC236}">
                <a16:creationId xmlns:a16="http://schemas.microsoft.com/office/drawing/2014/main" id="{EE99E882-4F27-4552-A7EC-2F6C3EA75DC9}"/>
              </a:ext>
            </a:extLst>
          </p:cNvPr>
          <p:cNvGraphicFramePr/>
          <p:nvPr/>
        </p:nvGraphicFramePr>
        <p:xfrm>
          <a:off x="6334125" y="2019300"/>
          <a:ext cx="4953000" cy="3000375"/>
        </p:xfrm>
        <a:graphic>
          <a:graphicData uri="http://schemas.openxmlformats.org/drawingml/2006/chart">
            <c:chart xmlns:c="http://schemas.openxmlformats.org/drawingml/2006/chart" xmlns:r="http://schemas.openxmlformats.org/officeDocument/2006/relationships" r:id="rId7"/>
          </a:graphicData>
        </a:graphic>
      </p:graphicFrame>
      <p:sp>
        <p:nvSpPr>
          <p:cNvPr id="11" name="Rectangle 10">
            <a:extLst>
              <a:ext uri="{FF2B5EF4-FFF2-40B4-BE49-F238E27FC236}">
                <a16:creationId xmlns:a16="http://schemas.microsoft.com/office/drawing/2014/main" id="{C20167A8-C32C-44A1-87BC-ACEC49CFA82A}"/>
              </a:ext>
            </a:extLst>
          </p:cNvPr>
          <p:cNvSpPr>
            <a:spLocks noGrp="1"/>
          </p:cNvSpPr>
          <p:nvPr/>
        </p:nvSpPr>
        <p:spPr>
          <a:xfrm>
            <a:off x="6524625" y="5076825"/>
            <a:ext cx="4762500" cy="523875"/>
          </a:xfrm>
          <a:prstGeom prst="rect">
            <a:avLst/>
          </a:prstGeom>
          <a:noFill/>
          <a:ln w="0">
            <a:noFill/>
            <a:prstDash val="solid"/>
          </a:ln>
        </p:spPr>
        <p:txBody>
          <a:bodyPr/>
          <a:lstStyle>
            <a:defPPr>
              <a:defRPr sz="1500" b="0">
                <a:solidFill>
                  <a:srgbClr val="281F35"/>
                </a:solidFill>
                <a:latin typeface="DejaVu Sans"/>
                <a:ea typeface="DejaVu Sans"/>
                <a:cs typeface="DejaVu Sans"/>
              </a:defRPr>
            </a:defPPr>
          </a:lstStyle>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n = 120 pays   Médiane = 4,63</a:t>
            </a:r>
          </a:p>
          <a:p>
            <a:pPr>
              <a:defRPr sz="1500" b="0">
                <a:solidFill>
                  <a:srgbClr val="281F35"/>
                </a:solidFill>
                <a:latin typeface="DejaVu Sans"/>
                <a:ea typeface="DejaVu Sans"/>
                <a:cs typeface="DejaVu Sans"/>
              </a:defRPr>
            </a:pPr>
            <a:r>
              <a:rPr sz="1500" b="0">
                <a:solidFill>
                  <a:srgbClr val="281F35"/>
                </a:solidFill>
                <a:latin typeface="DejaVu Sans"/>
                <a:ea typeface="DejaVu Sans"/>
                <a:cs typeface="DejaVu Sans"/>
              </a:rPr>
              <a:t>Q1 = 3,40   Q3 = 5,61</a:t>
            </a:r>
          </a:p>
        </p:txBody>
      </p:sp>
      <p:sp>
        <p:nvSpPr>
          <p:cNvPr id="12" name="Rectangle : coins arrondis 11">
            <a:extLst>
              <a:ext uri="{FF2B5EF4-FFF2-40B4-BE49-F238E27FC236}">
                <a16:creationId xmlns:a16="http://schemas.microsoft.com/office/drawing/2014/main" id="{77729C28-E9B3-4FA9-9F0A-8A49D1635031}"/>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3" name="Rectangle 12">
            <a:extLst>
              <a:ext uri="{FF2B5EF4-FFF2-40B4-BE49-F238E27FC236}">
                <a16:creationId xmlns:a16="http://schemas.microsoft.com/office/drawing/2014/main" id="{4F501E0F-A83F-4DF3-BBAA-2E6C6CA188A0}"/>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4" name="Rectangle 13">
            <a:extLst>
              <a:ext uri="{FF2B5EF4-FFF2-40B4-BE49-F238E27FC236}">
                <a16:creationId xmlns:a16="http://schemas.microsoft.com/office/drawing/2014/main" id="{5B6079D5-5451-4320-A95F-F6C9188225E8}"/>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Échantillons propres à chaque indicateur, avant le filtre des pays complets</a:t>
            </a:r>
          </a:p>
        </p:txBody>
      </p:sp>
    </p:spTree>
    <p:extLst>
      <p:ext uri="{BB962C8B-B14F-4D97-AF65-F5344CB8AC3E}">
        <p14:creationId xmlns:p14="http://schemas.microsoft.com/office/powerpoint/2010/main" val="15570370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D2EEA0C7-5D75-4DF5-A819-65A295849887}"/>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6F8DC7E5-4084-4DB4-B0E7-6C1A56A83BCE}"/>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3683A373-315C-47D7-BCA7-3A523B86A50E}"/>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5E216628-E036-4442-91F2-A1409CC24D06}"/>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La couverture limite la recommandation</a:t>
            </a:r>
          </a:p>
        </p:txBody>
      </p:sp>
      <p:sp>
        <p:nvSpPr>
          <p:cNvPr id="5" name="Rectangle 4">
            <a:extLst>
              <a:ext uri="{FF2B5EF4-FFF2-40B4-BE49-F238E27FC236}">
                <a16:creationId xmlns:a16="http://schemas.microsoft.com/office/drawing/2014/main" id="{76354A6C-1A63-4A9D-BF58-8EDCE370C8CE}"/>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Le classement porte sur 19,4 % du référentiel</a:t>
            </a:r>
          </a:p>
        </p:txBody>
      </p:sp>
      <p:sp>
        <p:nvSpPr>
          <p:cNvPr id="6" name="Rectangle 5">
            <a:extLst>
              <a:ext uri="{FF2B5EF4-FFF2-40B4-BE49-F238E27FC236}">
                <a16:creationId xmlns:a16="http://schemas.microsoft.com/office/drawing/2014/main" id="{D6CC1098-EA59-4BFB-907E-1EDD0CA6B9A7}"/>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F054F505-209D-493B-8975-1524612C5628}"/>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11</a:t>
            </a:r>
          </a:p>
        </p:txBody>
      </p:sp>
      <p:graphicFrame>
        <p:nvGraphicFramePr>
          <p:cNvPr id="8" name="Chart">
            <a:extLst>
              <a:ext uri="{FF2B5EF4-FFF2-40B4-BE49-F238E27FC236}">
                <a16:creationId xmlns:a16="http://schemas.microsoft.com/office/drawing/2014/main" id="{B5F68DA3-0B33-4792-A19F-65696B602402}"/>
              </a:ext>
            </a:extLst>
          </p:cNvPr>
          <p:cNvGraphicFramePr/>
          <p:nvPr/>
        </p:nvGraphicFramePr>
        <p:xfrm>
          <a:off x="1285875" y="1952625"/>
          <a:ext cx="6477000" cy="3333750"/>
        </p:xfrm>
        <a:graphic>
          <a:graphicData uri="http://schemas.openxmlformats.org/drawingml/2006/chart">
            <c:chart xmlns:c="http://schemas.openxmlformats.org/drawingml/2006/chart" xmlns:r="http://schemas.openxmlformats.org/officeDocument/2006/relationships" r:id="rId6"/>
          </a:graphicData>
        </a:graphic>
      </p:graphicFrame>
      <p:sp>
        <p:nvSpPr>
          <p:cNvPr id="9" name="Rectangle 8">
            <a:extLst>
              <a:ext uri="{FF2B5EF4-FFF2-40B4-BE49-F238E27FC236}">
                <a16:creationId xmlns:a16="http://schemas.microsoft.com/office/drawing/2014/main" id="{149B8792-9D21-4842-AADB-C1AC401C39A2}"/>
              </a:ext>
            </a:extLst>
          </p:cNvPr>
          <p:cNvSpPr>
            <a:spLocks noGrp="1"/>
          </p:cNvSpPr>
          <p:nvPr/>
        </p:nvSpPr>
        <p:spPr>
          <a:xfrm>
            <a:off x="8239125" y="2143125"/>
            <a:ext cx="3048000" cy="2952750"/>
          </a:xfrm>
          <a:prstGeom prst="rect">
            <a:avLst/>
          </a:prstGeom>
          <a:noFill/>
          <a:ln w="0">
            <a:noFill/>
            <a:prstDash val="solid"/>
          </a:ln>
        </p:spPr>
        <p:txBody>
          <a:bodyPr/>
          <a:lstStyle>
            <a:defPPr>
              <a:defRPr sz="1875" b="0">
                <a:solidFill>
                  <a:srgbClr val="281F35"/>
                </a:solidFill>
                <a:latin typeface="DejaVu Sans"/>
                <a:ea typeface="DejaVu Sans"/>
                <a:cs typeface="DejaVu Sans"/>
              </a:defRPr>
            </a:defPPr>
          </a:lstStyle>
          <a:p>
            <a:pPr>
              <a:defRPr sz="1875" b="0">
                <a:solidFill>
                  <a:srgbClr val="281F35"/>
                </a:solidFill>
                <a:latin typeface="DejaVu Sans"/>
                <a:ea typeface="DejaVu Sans"/>
                <a:cs typeface="DejaVu Sans"/>
              </a:defRPr>
            </a:pPr>
            <a:r>
              <a:rPr sz="1875" b="0">
                <a:solidFill>
                  <a:srgbClr val="281F35"/>
                </a:solidFill>
                <a:latin typeface="DejaVu Sans"/>
                <a:ea typeface="DejaVu Sans"/>
                <a:cs typeface="DejaVu Sans"/>
              </a:rPr>
              <a:t>42 pays comparés</a:t>
            </a:r>
          </a:p>
          <a:p>
            <a:endParaRPr sz="1875" b="0">
              <a:solidFill>
                <a:srgbClr val="281F35"/>
              </a:solidFill>
              <a:latin typeface="DejaVu Sans"/>
              <a:ea typeface="DejaVu Sans"/>
              <a:cs typeface="DejaVu Sans"/>
            </a:endParaRPr>
          </a:p>
          <a:p>
            <a:pPr>
              <a:defRPr sz="1875" b="0">
                <a:solidFill>
                  <a:srgbClr val="281F35"/>
                </a:solidFill>
                <a:latin typeface="DejaVu Sans"/>
                <a:ea typeface="DejaVu Sans"/>
                <a:cs typeface="DejaVu Sans"/>
              </a:defRPr>
            </a:pPr>
            <a:r>
              <a:rPr sz="1875" b="0">
                <a:solidFill>
                  <a:srgbClr val="281F35"/>
                </a:solidFill>
                <a:latin typeface="DejaVu Sans"/>
                <a:ea typeface="DejaVu Sans"/>
                <a:cs typeface="DejaVu Sans"/>
              </a:rPr>
              <a:t>174 exclus pour données manquantes, soit 80,6 %.</a:t>
            </a:r>
          </a:p>
          <a:p>
            <a:endParaRPr sz="1875" b="0">
              <a:solidFill>
                <a:srgbClr val="281F35"/>
              </a:solidFill>
              <a:latin typeface="DejaVu Sans"/>
              <a:ea typeface="DejaVu Sans"/>
              <a:cs typeface="DejaVu Sans"/>
            </a:endParaRPr>
          </a:p>
          <a:p>
            <a:pPr>
              <a:defRPr sz="1875" b="0">
                <a:solidFill>
                  <a:srgbClr val="281F35"/>
                </a:solidFill>
                <a:latin typeface="DejaVu Sans"/>
                <a:ea typeface="DejaVu Sans"/>
                <a:cs typeface="DejaVu Sans"/>
              </a:defRPr>
            </a:pPr>
            <a:r>
              <a:rPr sz="1875" b="0">
                <a:solidFill>
                  <a:srgbClr val="281F35"/>
                </a:solidFill>
                <a:latin typeface="DejaVu Sans"/>
                <a:ea typeface="DejaVu Sans"/>
                <a:cs typeface="DejaVu Sans"/>
              </a:rPr>
              <a:t>Une absence de données ne signifie pas un faible potentiel.</a:t>
            </a:r>
          </a:p>
        </p:txBody>
      </p:sp>
      <p:sp>
        <p:nvSpPr>
          <p:cNvPr id="10" name="Rectangle : coins arrondis 9">
            <a:extLst>
              <a:ext uri="{FF2B5EF4-FFF2-40B4-BE49-F238E27FC236}">
                <a16:creationId xmlns:a16="http://schemas.microsoft.com/office/drawing/2014/main" id="{8947E7CA-61F4-409D-9E19-39C33B412864}"/>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1" name="Rectangle 10">
            <a:extLst>
              <a:ext uri="{FF2B5EF4-FFF2-40B4-BE49-F238E27FC236}">
                <a16:creationId xmlns:a16="http://schemas.microsoft.com/office/drawing/2014/main" id="{5CDBE932-56F5-4E17-982F-0DF4A8977095}"/>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2" name="Rectangle 11">
            <a:extLst>
              <a:ext uri="{FF2B5EF4-FFF2-40B4-BE49-F238E27FC236}">
                <a16:creationId xmlns:a16="http://schemas.microsoft.com/office/drawing/2014/main" id="{07AC4873-4D87-4867-8BF7-85DA4577E253}"/>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Le résultat est relatif à un échantillon très sélectionné</a:t>
            </a:r>
          </a:p>
        </p:txBody>
      </p:sp>
    </p:spTree>
    <p:extLst>
      <p:ext uri="{BB962C8B-B14F-4D97-AF65-F5344CB8AC3E}">
        <p14:creationId xmlns:p14="http://schemas.microsoft.com/office/powerpoint/2010/main" val="232509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667D6A81-DD1E-4C37-A28F-E05DC0279599}"/>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DDB294EE-2F32-45DD-933A-0119AC6281A0}"/>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75C164E2-7C17-4542-8D21-AB8CB7064346}"/>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9990CE1E-EAA7-488D-ADE6-ECF862759FE2}"/>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Les pays proposés par les top 5</a:t>
            </a:r>
          </a:p>
        </p:txBody>
      </p:sp>
      <p:sp>
        <p:nvSpPr>
          <p:cNvPr id="5" name="Rectangle 4">
            <a:extLst>
              <a:ext uri="{FF2B5EF4-FFF2-40B4-BE49-F238E27FC236}">
                <a16:creationId xmlns:a16="http://schemas.microsoft.com/office/drawing/2014/main" id="{D6B55FAB-DF89-440C-82FB-9ED60754E1F0}"/>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Les États-Unis ressortent sur trois critères</a:t>
            </a:r>
          </a:p>
        </p:txBody>
      </p:sp>
      <p:sp>
        <p:nvSpPr>
          <p:cNvPr id="6" name="Rectangle 5">
            <a:extLst>
              <a:ext uri="{FF2B5EF4-FFF2-40B4-BE49-F238E27FC236}">
                <a16:creationId xmlns:a16="http://schemas.microsoft.com/office/drawing/2014/main" id="{37287CBD-7FA3-4F21-A6DB-593554ADC73E}"/>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5088E2BD-6F27-4A82-8CD3-2EA080AFB842}"/>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12</a:t>
            </a:r>
          </a:p>
        </p:txBody>
      </p:sp>
      <p:graphicFrame>
        <p:nvGraphicFramePr>
          <p:cNvPr id="8" name="Chart">
            <a:extLst>
              <a:ext uri="{FF2B5EF4-FFF2-40B4-BE49-F238E27FC236}">
                <a16:creationId xmlns:a16="http://schemas.microsoft.com/office/drawing/2014/main" id="{47B81E37-A083-4879-BE04-AEAA72D5BBEB}"/>
              </a:ext>
            </a:extLst>
          </p:cNvPr>
          <p:cNvGraphicFramePr/>
          <p:nvPr/>
        </p:nvGraphicFramePr>
        <p:xfrm>
          <a:off x="1190625" y="1905000"/>
          <a:ext cx="7334250" cy="3381375"/>
        </p:xfrm>
        <a:graphic>
          <a:graphicData uri="http://schemas.openxmlformats.org/drawingml/2006/chart">
            <c:chart xmlns:c="http://schemas.openxmlformats.org/drawingml/2006/chart" xmlns:r="http://schemas.openxmlformats.org/officeDocument/2006/relationships" r:id="rId6"/>
          </a:graphicData>
        </a:graphic>
      </p:graphicFrame>
      <p:sp>
        <p:nvSpPr>
          <p:cNvPr id="9" name="Rectangle 8">
            <a:extLst>
              <a:ext uri="{FF2B5EF4-FFF2-40B4-BE49-F238E27FC236}">
                <a16:creationId xmlns:a16="http://schemas.microsoft.com/office/drawing/2014/main" id="{A38532BF-617E-4528-A9A8-15DCDC7749B7}"/>
              </a:ext>
            </a:extLst>
          </p:cNvPr>
          <p:cNvSpPr>
            <a:spLocks noGrp="1"/>
          </p:cNvSpPr>
          <p:nvPr/>
        </p:nvSpPr>
        <p:spPr>
          <a:xfrm>
            <a:off x="8858250" y="2095500"/>
            <a:ext cx="2428875" cy="3048000"/>
          </a:xfrm>
          <a:prstGeom prst="rect">
            <a:avLst/>
          </a:prstGeom>
          <a:noFill/>
          <a:ln w="0">
            <a:noFill/>
            <a:prstDash val="solid"/>
          </a:ln>
        </p:spPr>
        <p:txBody>
          <a:bodyPr/>
          <a:lstStyle>
            <a:defPPr>
              <a:defRPr sz="1800" b="0">
                <a:solidFill>
                  <a:srgbClr val="281F35"/>
                </a:solidFill>
                <a:latin typeface="DejaVu Sans"/>
                <a:ea typeface="DejaVu Sans"/>
                <a:cs typeface="DejaVu Sans"/>
              </a:defRPr>
            </a:defPPr>
          </a:lstStyle>
          <a:p>
            <a:pPr>
              <a:defRPr sz="1800" b="0">
                <a:solidFill>
                  <a:srgbClr val="281F35"/>
                </a:solidFill>
                <a:latin typeface="DejaVu Sans"/>
                <a:ea typeface="DejaVu Sans"/>
                <a:cs typeface="DejaVu Sans"/>
              </a:defRPr>
            </a:pPr>
            <a:r>
              <a:rPr sz="1800" b="0">
                <a:solidFill>
                  <a:srgbClr val="281F35"/>
                </a:solidFill>
                <a:latin typeface="DejaVu Sans"/>
                <a:ea typeface="DejaVu Sans"/>
                <a:cs typeface="DejaVu Sans"/>
              </a:rPr>
              <a:t>Classement sur 42 pays complets.</a:t>
            </a:r>
          </a:p>
          <a:p>
            <a:endParaRPr sz="1800" b="0">
              <a:solidFill>
                <a:srgbClr val="281F35"/>
              </a:solidFill>
              <a:latin typeface="DejaVu Sans"/>
              <a:ea typeface="DejaVu Sans"/>
              <a:cs typeface="DejaVu Sans"/>
            </a:endParaRPr>
          </a:p>
          <a:p>
            <a:pPr>
              <a:defRPr sz="1800" b="0">
                <a:solidFill>
                  <a:srgbClr val="281F35"/>
                </a:solidFill>
                <a:latin typeface="DejaVu Sans"/>
                <a:ea typeface="DejaVu Sans"/>
                <a:cs typeface="DejaVu Sans"/>
              </a:defRPr>
            </a:pPr>
            <a:r>
              <a:rPr sz="1800" b="0">
                <a:solidFill>
                  <a:srgbClr val="281F35"/>
                </a:solidFill>
                <a:latin typeface="DejaVu Sans"/>
                <a:ea typeface="DejaVu Sans"/>
                <a:cs typeface="DejaVu Sans"/>
              </a:rPr>
              <a:t>Les quatre autres pays ressortent chacun sur un seul critère.</a:t>
            </a:r>
          </a:p>
          <a:p>
            <a:endParaRPr sz="1800" b="0">
              <a:solidFill>
                <a:srgbClr val="281F35"/>
              </a:solidFill>
              <a:latin typeface="DejaVu Sans"/>
              <a:ea typeface="DejaVu Sans"/>
              <a:cs typeface="DejaVu Sans"/>
            </a:endParaRPr>
          </a:p>
          <a:p>
            <a:pPr>
              <a:defRPr sz="1800" b="0">
                <a:solidFill>
                  <a:srgbClr val="281F35"/>
                </a:solidFill>
                <a:latin typeface="DejaVu Sans"/>
                <a:ea typeface="DejaVu Sans"/>
                <a:cs typeface="DejaVu Sans"/>
              </a:defRPr>
            </a:pPr>
            <a:r>
              <a:rPr sz="1800" b="0">
                <a:solidFill>
                  <a:srgbClr val="281F35"/>
                </a:solidFill>
                <a:latin typeface="DejaVu Sans"/>
                <a:ea typeface="DejaVu Sans"/>
                <a:cs typeface="DejaVu Sans"/>
              </a:rPr>
              <a:t>Ce résultat ne mesure pas la demande commerciale.</a:t>
            </a:r>
          </a:p>
        </p:txBody>
      </p:sp>
      <p:sp>
        <p:nvSpPr>
          <p:cNvPr id="10" name="Rectangle : coins arrondis 9">
            <a:extLst>
              <a:ext uri="{FF2B5EF4-FFF2-40B4-BE49-F238E27FC236}">
                <a16:creationId xmlns:a16="http://schemas.microsoft.com/office/drawing/2014/main" id="{1C03DE32-D070-4CEF-A019-ED78C4C5E2B1}"/>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1" name="Rectangle 10">
            <a:extLst>
              <a:ext uri="{FF2B5EF4-FFF2-40B4-BE49-F238E27FC236}">
                <a16:creationId xmlns:a16="http://schemas.microsoft.com/office/drawing/2014/main" id="{D0B126C5-210B-4C38-BCEA-37EDA2B96C07}"/>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2" name="Rectangle 11">
            <a:extLst>
              <a:ext uri="{FF2B5EF4-FFF2-40B4-BE49-F238E27FC236}">
                <a16:creationId xmlns:a16="http://schemas.microsoft.com/office/drawing/2014/main" id="{014AD7B4-5EBA-4624-A950-F12C005DC345}"/>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Départage : rang moyen dans les top 5, puis code pays</a:t>
            </a:r>
          </a:p>
        </p:txBody>
      </p:sp>
    </p:spTree>
    <p:extLst>
      <p:ext uri="{BB962C8B-B14F-4D97-AF65-F5344CB8AC3E}">
        <p14:creationId xmlns:p14="http://schemas.microsoft.com/office/powerpoint/2010/main" val="7524485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1A7AE1EF-26B3-4AB7-BC79-D3E9FA0AA0D1}"/>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42EB32C3-530B-4212-90F7-BF25DAEF3F7C}"/>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A421771C-45DB-4917-A156-5076A0A3C1E2}"/>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5D10A18C-291E-4C8E-802C-97FCDAECC394}"/>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Ce qui explique la liste proposée</a:t>
            </a:r>
          </a:p>
        </p:txBody>
      </p:sp>
      <p:sp>
        <p:nvSpPr>
          <p:cNvPr id="5" name="Rectangle 4">
            <a:extLst>
              <a:ext uri="{FF2B5EF4-FFF2-40B4-BE49-F238E27FC236}">
                <a16:creationId xmlns:a16="http://schemas.microsoft.com/office/drawing/2014/main" id="{2AB40A55-F9F6-4DAD-9BC1-0A0575BB9951}"/>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Des signaux éducatifs différents selon les pays</a:t>
            </a:r>
          </a:p>
        </p:txBody>
      </p:sp>
      <p:sp>
        <p:nvSpPr>
          <p:cNvPr id="6" name="Rectangle 5">
            <a:extLst>
              <a:ext uri="{FF2B5EF4-FFF2-40B4-BE49-F238E27FC236}">
                <a16:creationId xmlns:a16="http://schemas.microsoft.com/office/drawing/2014/main" id="{92CBC605-6516-4B97-88B3-C8F6871FDEC3}"/>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D8DFA692-B09B-4053-964A-57DD906ED973}"/>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13</a:t>
            </a:r>
          </a:p>
        </p:txBody>
      </p:sp>
      <p:graphicFrame>
        <p:nvGraphicFramePr>
          <p:cNvPr id="8" name="Tableau 7">
            <a:extLst>
              <a:ext uri="{FF2B5EF4-FFF2-40B4-BE49-F238E27FC236}">
                <a16:creationId xmlns:a16="http://schemas.microsoft.com/office/drawing/2014/main" id="{410D8D47-D63D-484A-8D2C-90E5A4BB4DDF}"/>
              </a:ext>
            </a:extLst>
          </p:cNvPr>
          <p:cNvGraphicFramePr/>
          <p:nvPr/>
        </p:nvGraphicFramePr>
        <p:xfrm>
          <a:off x="1190625" y="1952625"/>
          <a:ext cx="9810750" cy="3143250"/>
        </p:xfrm>
        <a:graphic>
          <a:graphicData uri="http://schemas.openxmlformats.org/drawingml/2006/table">
            <a:tbl>
              <a:tblPr/>
              <a:tblGrid>
                <a:gridCol w="2476500">
                  <a:extLst>
                    <a:ext uri="{9D8B030D-6E8A-4147-A177-3AD203B41FA5}">
                      <a16:colId xmlns:a16="http://schemas.microsoft.com/office/drawing/2014/main" val="20000"/>
                    </a:ext>
                  </a:extLst>
                </a:gridCol>
                <a:gridCol w="1428750">
                  <a:extLst>
                    <a:ext uri="{9D8B030D-6E8A-4147-A177-3AD203B41FA5}">
                      <a16:colId xmlns:a16="http://schemas.microsoft.com/office/drawing/2014/main" val="20001"/>
                    </a:ext>
                  </a:extLst>
                </a:gridCol>
                <a:gridCol w="5905500">
                  <a:extLst>
                    <a:ext uri="{9D8B030D-6E8A-4147-A177-3AD203B41FA5}">
                      <a16:colId xmlns:a16="http://schemas.microsoft.com/office/drawing/2014/main" val="20002"/>
                    </a:ext>
                  </a:extLst>
                </a:gridCol>
              </a:tblGrid>
              <a:tr h="523875">
                <a:tc>
                  <a:txBody>
                    <a:bodyPr/>
                    <a:lstStyle/>
                    <a:p>
                      <a:r>
                        <a:rPr sz="1575" b="1">
                          <a:solidFill>
                            <a:srgbClr val="FFFFFF"/>
                          </a:solidFill>
                          <a:latin typeface="DejaVu Sans"/>
                          <a:ea typeface="DejaVu Sans"/>
                          <a:cs typeface="DejaVu Sans"/>
                        </a:rPr>
                        <a:t>Pays</a:t>
                      </a:r>
                    </a:p>
                  </a:txBody>
                  <a:tcPr>
                    <a:lnL w="9525">
                      <a:solidFill>
                        <a:srgbClr val="E7D8DF"/>
                      </a:solidFill>
                      <a:prstDash val="soli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Top 5</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tc>
                  <a:txBody>
                    <a:bodyPr/>
                    <a:lstStyle/>
                    <a:p>
                      <a:r>
                        <a:rPr sz="1575" b="1">
                          <a:solidFill>
                            <a:srgbClr val="FFFFFF"/>
                          </a:solidFill>
                          <a:latin typeface="DejaVu Sans"/>
                          <a:ea typeface="DejaVu Sans"/>
                          <a:cs typeface="DejaVu Sans"/>
                        </a:rPr>
                        <a:t>Critères à l’origine du top 5</a:t>
                      </a:r>
                    </a:p>
                  </a:txBody>
                  <a:tcPr>
                    <a:lnL w="9525" cap="flat" cmpd="sng" algn="ctr">
                      <a:solidFill>
                        <a:srgbClr val="E7D8DF"/>
                      </a:solidFill>
                      <a:prstDash val="solid"/>
                      <a:round/>
                      <a:headEnd type="none" w="med" len="med"/>
                      <a:tailEnd type="none" w="med" len="med"/>
                    </a:lnL>
                    <a:lnR w="9525">
                      <a:solidFill>
                        <a:srgbClr val="E7D8DF"/>
                      </a:solidFill>
                      <a:prstDash val="solid"/>
                    </a:lnR>
                    <a:lnT w="9525">
                      <a:solidFill>
                        <a:srgbClr val="E7D8DF"/>
                      </a:solidFill>
                      <a:prstDash val="solid"/>
                    </a:lnT>
                    <a:lnB w="9525">
                      <a:solidFill>
                        <a:srgbClr val="E7D8DF"/>
                      </a:solidFill>
                      <a:prstDash val="solid"/>
                    </a:lnB>
                    <a:solidFill>
                      <a:srgbClr val="651852"/>
                    </a:solidFill>
                  </a:tcPr>
                </a:tc>
                <a:extLst>
                  <a:ext uri="{0D108BD9-81ED-4DB2-BD59-A6C34878D82A}">
                    <a16:rowId xmlns:a16="http://schemas.microsoft.com/office/drawing/2014/main" val="10000"/>
                  </a:ext>
                </a:extLst>
              </a:tr>
              <a:tr h="523875">
                <a:tc>
                  <a:txBody>
                    <a:bodyPr/>
                    <a:lstStyle/>
                    <a:p>
                      <a:r>
                        <a:rPr sz="1575" b="0">
                          <a:solidFill>
                            <a:srgbClr val="281F35"/>
                          </a:solidFill>
                          <a:latin typeface="DejaVu Sans"/>
                          <a:ea typeface="DejaVu Sans"/>
                          <a:cs typeface="DejaVu Sans"/>
                        </a:rPr>
                        <a:t>États-Unis</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3</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Population jeune, supérieur, niveau d’études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1"/>
                  </a:ext>
                </a:extLst>
              </a:tr>
              <a:tr h="523875">
                <a:tc>
                  <a:txBody>
                    <a:bodyPr/>
                    <a:lstStyle/>
                    <a:p>
                      <a:r>
                        <a:rPr sz="1575" b="0">
                          <a:solidFill>
                            <a:srgbClr val="281F35"/>
                          </a:solidFill>
                          <a:latin typeface="DejaVu Sans"/>
                          <a:ea typeface="DejaVu Sans"/>
                          <a:cs typeface="DejaVu Sans"/>
                        </a:rPr>
                        <a:t>Azerbaïdjan</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Niveau d’études des 25 ans et plus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2"/>
                  </a:ext>
                </a:extLst>
              </a:tr>
              <a:tr h="523875">
                <a:tc>
                  <a:txBody>
                    <a:bodyPr/>
                    <a:lstStyle/>
                    <a:p>
                      <a:r>
                        <a:rPr sz="1575" b="0">
                          <a:solidFill>
                            <a:srgbClr val="281F35"/>
                          </a:solidFill>
                          <a:latin typeface="DejaVu Sans"/>
                          <a:ea typeface="DejaVu Sans"/>
                          <a:cs typeface="DejaVu Sans"/>
                        </a:rPr>
                        <a:t>Moldavie</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Dépenses publiques d’éducation / PIB</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3"/>
                  </a:ext>
                </a:extLst>
              </a:tr>
              <a:tr h="523875">
                <a:tc>
                  <a:txBody>
                    <a:bodyPr/>
                    <a:lstStyle/>
                    <a:p>
                      <a:r>
                        <a:rPr sz="1575" b="0">
                          <a:solidFill>
                            <a:srgbClr val="281F35"/>
                          </a:solidFill>
                          <a:latin typeface="DejaVu Sans"/>
                          <a:ea typeface="DejaVu Sans"/>
                          <a:cs typeface="DejaVu Sans"/>
                        </a:rPr>
                        <a:t>République tchèque</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Niveau d’études des 25 ans et plus</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4"/>
                  </a:ext>
                </a:extLst>
              </a:tr>
              <a:tr h="523875">
                <a:tc>
                  <a:txBody>
                    <a:bodyPr/>
                    <a:lstStyle/>
                    <a:p>
                      <a:r>
                        <a:rPr sz="1575" b="0">
                          <a:solidFill>
                            <a:srgbClr val="281F35"/>
                          </a:solidFill>
                          <a:latin typeface="DejaVu Sans"/>
                          <a:ea typeface="DejaVu Sans"/>
                          <a:cs typeface="DejaVu Sans"/>
                        </a:rPr>
                        <a:t>Danemark</a:t>
                      </a:r>
                    </a:p>
                  </a:txBody>
                  <a:tcPr>
                    <a:lnL w="9525">
                      <a:solidFill>
                        <a:srgbClr val="E7D8DF"/>
                      </a:solidFill>
                      <a:prstDash val="soli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1</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tc>
                  <a:txBody>
                    <a:bodyPr/>
                    <a:lstStyle/>
                    <a:p>
                      <a:r>
                        <a:rPr sz="1575" b="0">
                          <a:solidFill>
                            <a:srgbClr val="281F35"/>
                          </a:solidFill>
                          <a:latin typeface="DejaVu Sans"/>
                          <a:ea typeface="DejaVu Sans"/>
                          <a:cs typeface="DejaVu Sans"/>
                        </a:rPr>
                        <a:t>Dépenses publiques d’éducation / PIB</a:t>
                      </a:r>
                    </a:p>
                  </a:txBody>
                  <a:tcPr>
                    <a:lnL w="9525" cap="flat" cmpd="sng" algn="ctr">
                      <a:solidFill>
                        <a:srgbClr val="E7D8DF"/>
                      </a:solidFill>
                      <a:prstDash val="solid"/>
                      <a:round/>
                      <a:headEnd type="none" w="med" len="med"/>
                      <a:tailEnd type="none" w="med" len="med"/>
                    </a:lnL>
                    <a:lnR w="9525">
                      <a:solidFill>
                        <a:srgbClr val="E7D8DF"/>
                      </a:solidFill>
                      <a:prstDash val="solid"/>
                    </a:lnR>
                    <a:lnT w="9525" cap="flat" cmpd="sng" algn="ctr">
                      <a:solidFill>
                        <a:srgbClr val="E7D8DF"/>
                      </a:solidFill>
                      <a:prstDash val="solid"/>
                      <a:round/>
                      <a:headEnd type="none" w="med" len="med"/>
                      <a:tailEnd type="none" w="med" len="med"/>
                    </a:lnT>
                    <a:lnB w="9525">
                      <a:solidFill>
                        <a:srgbClr val="E7D8DF"/>
                      </a:solidFill>
                      <a:prstDash val="solid"/>
                    </a:lnB>
                    <a:solidFill>
                      <a:srgbClr val="FFFDFA"/>
                    </a:solidFill>
                  </a:tcPr>
                </a:tc>
                <a:extLst>
                  <a:ext uri="{0D108BD9-81ED-4DB2-BD59-A6C34878D82A}">
                    <a16:rowId xmlns:a16="http://schemas.microsoft.com/office/drawing/2014/main" val="10005"/>
                  </a:ext>
                </a:extLst>
              </a:tr>
            </a:tbl>
          </a:graphicData>
        </a:graphic>
      </p:graphicFrame>
      <p:sp>
        <p:nvSpPr>
          <p:cNvPr id="9" name="Rectangle : coins arrondis 8">
            <a:extLst>
              <a:ext uri="{FF2B5EF4-FFF2-40B4-BE49-F238E27FC236}">
                <a16:creationId xmlns:a16="http://schemas.microsoft.com/office/drawing/2014/main" id="{7BC0240F-C4C1-4B8D-9848-8C5885240BB0}"/>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0" name="Rectangle 9">
            <a:extLst>
              <a:ext uri="{FF2B5EF4-FFF2-40B4-BE49-F238E27FC236}">
                <a16:creationId xmlns:a16="http://schemas.microsoft.com/office/drawing/2014/main" id="{8D8D4C0A-D294-498C-BA40-7484424AD6A2}"/>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1" name="Rectangle 10">
            <a:extLst>
              <a:ext uri="{FF2B5EF4-FFF2-40B4-BE49-F238E27FC236}">
                <a16:creationId xmlns:a16="http://schemas.microsoft.com/office/drawing/2014/main" id="{B0B0CD31-BD59-42D4-8CE0-5C2C511F6B6B}"/>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Les dépenses publiques ne mesurent pas le budget des clients</a:t>
            </a:r>
          </a:p>
        </p:txBody>
      </p:sp>
    </p:spTree>
    <p:extLst>
      <p:ext uri="{BB962C8B-B14F-4D97-AF65-F5344CB8AC3E}">
        <p14:creationId xmlns:p14="http://schemas.microsoft.com/office/powerpoint/2010/main" val="18785460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3" name="Image 12">
            <a:extLst>
              <a:ext uri="{FF2B5EF4-FFF2-40B4-BE49-F238E27FC236}">
                <a16:creationId xmlns:a16="http://schemas.microsoft.com/office/drawing/2014/main" id="{44219F34-0BE7-41BF-B24B-3B3F3F9B618F}"/>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6A7F1C57-7639-4AC5-B148-C2BBF759E1A5}"/>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B5286F0A-975E-4227-B8F4-F8D886C0F88C}"/>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0C7B06DF-2672-4C60-A4A7-6337B19A6081}"/>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La conclusion pour Mark</a:t>
            </a:r>
          </a:p>
        </p:txBody>
      </p:sp>
      <p:sp>
        <p:nvSpPr>
          <p:cNvPr id="5" name="Rectangle 4">
            <a:extLst>
              <a:ext uri="{FF2B5EF4-FFF2-40B4-BE49-F238E27FC236}">
                <a16:creationId xmlns:a16="http://schemas.microsoft.com/office/drawing/2014/main" id="{BB3BC8A5-4315-4494-905A-2D050CF4933E}"/>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Les données permettent une première orientation des investigations</a:t>
            </a:r>
          </a:p>
        </p:txBody>
      </p:sp>
      <p:sp>
        <p:nvSpPr>
          <p:cNvPr id="6" name="Rectangle 5">
            <a:extLst>
              <a:ext uri="{FF2B5EF4-FFF2-40B4-BE49-F238E27FC236}">
                <a16:creationId xmlns:a16="http://schemas.microsoft.com/office/drawing/2014/main" id="{E5775C92-A369-4994-A945-D156A747AF62}"/>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B63CCF2D-55BD-47B1-8206-1BEAC35719C1}"/>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14</a:t>
            </a:r>
          </a:p>
        </p:txBody>
      </p:sp>
      <p:sp>
        <p:nvSpPr>
          <p:cNvPr id="8" name="Rectangle 7">
            <a:extLst>
              <a:ext uri="{FF2B5EF4-FFF2-40B4-BE49-F238E27FC236}">
                <a16:creationId xmlns:a16="http://schemas.microsoft.com/office/drawing/2014/main" id="{7E799E79-AF81-43FD-984B-54FD8A74CC62}"/>
              </a:ext>
            </a:extLst>
          </p:cNvPr>
          <p:cNvSpPr>
            <a:spLocks noGrp="1"/>
          </p:cNvSpPr>
          <p:nvPr/>
        </p:nvSpPr>
        <p:spPr>
          <a:xfrm>
            <a:off x="1381125" y="2190750"/>
            <a:ext cx="9715500" cy="1285875"/>
          </a:xfrm>
          <a:prstGeom prst="rect">
            <a:avLst/>
          </a:prstGeom>
          <a:noFill/>
          <a:ln w="0">
            <a:noFill/>
            <a:prstDash val="solid"/>
          </a:ln>
        </p:spPr>
        <p:txBody>
          <a:bodyPr/>
          <a:lstStyle>
            <a:defPPr>
              <a:defRPr sz="3225" b="1">
                <a:solidFill>
                  <a:srgbClr val="651852"/>
                </a:solidFill>
                <a:latin typeface="DejaVu Serif"/>
                <a:ea typeface="DejaVu Serif"/>
                <a:cs typeface="DejaVu Serif"/>
              </a:defRPr>
            </a:defPPr>
          </a:lstStyle>
          <a:p>
            <a:pPr>
              <a:defRPr sz="3225" b="1">
                <a:solidFill>
                  <a:srgbClr val="651852"/>
                </a:solidFill>
                <a:latin typeface="DejaVu Serif"/>
                <a:ea typeface="DejaVu Serif"/>
                <a:cs typeface="DejaVu Serif"/>
              </a:defRPr>
            </a:pPr>
            <a:r>
              <a:rPr sz="3225" b="1">
                <a:solidFill>
                  <a:srgbClr val="651852"/>
                </a:solidFill>
                <a:latin typeface="DejaVu Serif"/>
                <a:ea typeface="DejaVu Serif"/>
                <a:cs typeface="DejaVu Serif"/>
              </a:rPr>
              <a:t>Une présélection historique,</a:t>
            </a:r>
          </a:p>
          <a:p>
            <a:pPr>
              <a:defRPr sz="3225" b="1">
                <a:solidFill>
                  <a:srgbClr val="651852"/>
                </a:solidFill>
                <a:latin typeface="DejaVu Serif"/>
                <a:ea typeface="DejaVu Serif"/>
                <a:cs typeface="DejaVu Serif"/>
              </a:defRPr>
            </a:pPr>
            <a:r>
              <a:rPr sz="3225" b="1">
                <a:solidFill>
                  <a:srgbClr val="651852"/>
                </a:solidFill>
                <a:latin typeface="DejaVu Serif"/>
                <a:ea typeface="DejaVu Serif"/>
                <a:cs typeface="DejaVu Serif"/>
              </a:rPr>
              <a:t>à interpréter dans son échantillon</a:t>
            </a:r>
          </a:p>
        </p:txBody>
      </p:sp>
      <p:sp>
        <p:nvSpPr>
          <p:cNvPr id="9" name="Rectangle 8">
            <a:extLst>
              <a:ext uri="{FF2B5EF4-FFF2-40B4-BE49-F238E27FC236}">
                <a16:creationId xmlns:a16="http://schemas.microsoft.com/office/drawing/2014/main" id="{603FE13D-815C-4151-845A-23486344AA01}"/>
              </a:ext>
            </a:extLst>
          </p:cNvPr>
          <p:cNvSpPr>
            <a:spLocks noGrp="1"/>
          </p:cNvSpPr>
          <p:nvPr/>
        </p:nvSpPr>
        <p:spPr>
          <a:xfrm>
            <a:off x="1428750" y="3810000"/>
            <a:ext cx="9429750" cy="1381125"/>
          </a:xfrm>
          <a:prstGeom prst="rect">
            <a:avLst/>
          </a:prstGeom>
          <a:noFill/>
          <a:ln w="0">
            <a:noFill/>
            <a:prstDash val="solid"/>
          </a:ln>
        </p:spPr>
        <p:txBody>
          <a:bodyPr/>
          <a:lstStyle>
            <a:defPPr>
              <a:defRPr sz="1950" b="0">
                <a:solidFill>
                  <a:srgbClr val="281F35"/>
                </a:solidFill>
                <a:latin typeface="DejaVu Sans"/>
                <a:ea typeface="DejaVu Sans"/>
                <a:cs typeface="DejaVu Sans"/>
              </a:defRPr>
            </a:defPPr>
          </a:lstStyle>
          <a:p>
            <a:pPr>
              <a:defRPr sz="1950" b="0">
                <a:solidFill>
                  <a:srgbClr val="281F35"/>
                </a:solidFill>
                <a:latin typeface="DejaVu Sans"/>
                <a:ea typeface="DejaVu Sans"/>
                <a:cs typeface="DejaVu Sans"/>
              </a:defRPr>
            </a:pPr>
            <a:r>
              <a:rPr sz="1950" b="0">
                <a:solidFill>
                  <a:srgbClr val="281F35"/>
                </a:solidFill>
                <a:latin typeface="DejaVu Sans"/>
                <a:ea typeface="DejaVu Sans"/>
                <a:cs typeface="DejaVu Sans"/>
              </a:rPr>
              <a:t>Les quatre critères décrivent le public potentiel et le contexte éducatif.</a:t>
            </a:r>
          </a:p>
          <a:p>
            <a:pPr>
              <a:defRPr sz="1950" b="0">
                <a:solidFill>
                  <a:srgbClr val="281F35"/>
                </a:solidFill>
                <a:latin typeface="DejaVu Sans"/>
                <a:ea typeface="DejaVu Sans"/>
                <a:cs typeface="DejaVu Sans"/>
              </a:defRPr>
            </a:pPr>
            <a:r>
              <a:rPr sz="1950" b="0">
                <a:solidFill>
                  <a:srgbClr val="281F35"/>
                </a:solidFill>
                <a:latin typeface="DejaVu Sans"/>
                <a:ea typeface="DejaVu Sans"/>
                <a:cs typeface="DejaVu Sans"/>
              </a:rPr>
              <a:t>La forte exclusion géographique limite la portée du classement.</a:t>
            </a:r>
          </a:p>
          <a:p>
            <a:pPr>
              <a:defRPr sz="1950" b="0">
                <a:solidFill>
                  <a:srgbClr val="281F35"/>
                </a:solidFill>
                <a:latin typeface="DejaVu Sans"/>
                <a:ea typeface="DejaVu Sans"/>
                <a:cs typeface="DejaVu Sans"/>
              </a:defRPr>
            </a:pPr>
            <a:r>
              <a:rPr sz="1950" b="0">
                <a:solidFill>
                  <a:srgbClr val="281F35"/>
                </a:solidFill>
                <a:latin typeface="DejaVu Sans"/>
                <a:ea typeface="DejaVu Sans"/>
                <a:cs typeface="DejaVu Sans"/>
              </a:rPr>
              <a:t>La croissance future et la demande pour academy restent à établir.</a:t>
            </a:r>
          </a:p>
        </p:txBody>
      </p:sp>
      <p:sp>
        <p:nvSpPr>
          <p:cNvPr id="10" name="Rectangle : coins arrondis 9">
            <a:extLst>
              <a:ext uri="{FF2B5EF4-FFF2-40B4-BE49-F238E27FC236}">
                <a16:creationId xmlns:a16="http://schemas.microsoft.com/office/drawing/2014/main" id="{F3695B6B-88E9-45D5-B0C6-A88A3F4CDDF0}"/>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11" name="Rectangle 10">
            <a:extLst>
              <a:ext uri="{FF2B5EF4-FFF2-40B4-BE49-F238E27FC236}">
                <a16:creationId xmlns:a16="http://schemas.microsoft.com/office/drawing/2014/main" id="{FCE31C4E-8026-43FB-B0A8-023B4AE86223}"/>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12" name="Rectangle 11">
            <a:extLst>
              <a:ext uri="{FF2B5EF4-FFF2-40B4-BE49-F238E27FC236}">
                <a16:creationId xmlns:a16="http://schemas.microsoft.com/office/drawing/2014/main" id="{6A439EDB-F8C6-49F0-904E-D347D9326523}"/>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Aucune décision d’implantation sur la seule base de cette liste</a:t>
            </a:r>
          </a:p>
        </p:txBody>
      </p:sp>
    </p:spTree>
    <p:extLst>
      <p:ext uri="{BB962C8B-B14F-4D97-AF65-F5344CB8AC3E}">
        <p14:creationId xmlns:p14="http://schemas.microsoft.com/office/powerpoint/2010/main" val="88776599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23" name="Image 22">
            <a:extLst>
              <a:ext uri="{FF2B5EF4-FFF2-40B4-BE49-F238E27FC236}">
                <a16:creationId xmlns:a16="http://schemas.microsoft.com/office/drawing/2014/main" id="{2B5914CE-8700-4E87-99A6-6487537897F7}"/>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D1E5CE68-79DF-4D5B-9AF9-DF4859B87B7E}"/>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F8432F2B-5033-40D4-97DC-CA23D3D2F480}"/>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63DA2FC6-E440-4C09-B020-9B93DE4E3CF1}"/>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Les conseils pour la suite</a:t>
            </a:r>
          </a:p>
        </p:txBody>
      </p:sp>
      <p:sp>
        <p:nvSpPr>
          <p:cNvPr id="5" name="Rectangle 4">
            <a:extLst>
              <a:ext uri="{FF2B5EF4-FFF2-40B4-BE49-F238E27FC236}">
                <a16:creationId xmlns:a16="http://schemas.microsoft.com/office/drawing/2014/main" id="{8D04AD5D-04D4-4E91-8957-5A34278D59FF}"/>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La priorité est de renforcer la qualification des marchés</a:t>
            </a:r>
          </a:p>
        </p:txBody>
      </p:sp>
      <p:sp>
        <p:nvSpPr>
          <p:cNvPr id="6" name="Rectangle 5">
            <a:extLst>
              <a:ext uri="{FF2B5EF4-FFF2-40B4-BE49-F238E27FC236}">
                <a16:creationId xmlns:a16="http://schemas.microsoft.com/office/drawing/2014/main" id="{D371F45D-51F5-4F1E-A46A-5F655C7433AF}"/>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A7E711DE-FF4A-440B-9A81-B6D14E2E91E1}"/>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15</a:t>
            </a:r>
          </a:p>
        </p:txBody>
      </p:sp>
      <p:sp>
        <p:nvSpPr>
          <p:cNvPr id="8" name="Rectangle : coins arrondis 7">
            <a:extLst>
              <a:ext uri="{FF2B5EF4-FFF2-40B4-BE49-F238E27FC236}">
                <a16:creationId xmlns:a16="http://schemas.microsoft.com/office/drawing/2014/main" id="{B756A1B8-0D19-498D-89AB-98A3D0D1B036}"/>
              </a:ext>
            </a:extLst>
          </p:cNvPr>
          <p:cNvSpPr>
            <a:spLocks noGrp="1"/>
          </p:cNvSpPr>
          <p:nvPr/>
        </p:nvSpPr>
        <p:spPr>
          <a:xfrm>
            <a:off x="1047750" y="2019300"/>
            <a:ext cx="3213100" cy="3143250"/>
          </a:xfrm>
          <a:prstGeom prst="roundRect">
            <a:avLst>
              <a:gd name="adj" fmla="val 2424"/>
            </a:avLst>
          </a:prstGeom>
          <a:solidFill>
            <a:srgbClr val="FFFDFA"/>
          </a:solidFill>
          <a:ln w="9525">
            <a:solidFill>
              <a:srgbClr val="EDDAD9"/>
            </a:solidFill>
            <a:prstDash val="solid"/>
          </a:ln>
        </p:spPr>
        <p:txBody>
          <a:bodyPr/>
          <a:lstStyle/>
          <a:p>
            <a:endParaRPr lang="fr-FR"/>
          </a:p>
        </p:txBody>
      </p:sp>
      <p:sp>
        <p:nvSpPr>
          <p:cNvPr id="9" name="Rectangle 8">
            <a:extLst>
              <a:ext uri="{FF2B5EF4-FFF2-40B4-BE49-F238E27FC236}">
                <a16:creationId xmlns:a16="http://schemas.microsoft.com/office/drawing/2014/main" id="{D3413F04-EF08-4025-A983-55447EB61705}"/>
              </a:ext>
            </a:extLst>
          </p:cNvPr>
          <p:cNvSpPr>
            <a:spLocks noGrp="1"/>
          </p:cNvSpPr>
          <p:nvPr/>
        </p:nvSpPr>
        <p:spPr>
          <a:xfrm>
            <a:off x="1238250" y="2171700"/>
            <a:ext cx="2832100" cy="400050"/>
          </a:xfrm>
          <a:prstGeom prst="rect">
            <a:avLst/>
          </a:prstGeom>
          <a:noFill/>
          <a:ln w="0">
            <a:noFill/>
            <a:prstDash val="solid"/>
          </a:ln>
        </p:spPr>
        <p:txBody>
          <a:bodyPr/>
          <a:lstStyle>
            <a:defPPr>
              <a:defRPr sz="2550" b="1">
                <a:solidFill>
                  <a:srgbClr val="F22B86"/>
                </a:solidFill>
                <a:latin typeface="DejaVu Sans"/>
                <a:ea typeface="DejaVu Sans"/>
                <a:cs typeface="DejaVu Sans"/>
              </a:defRPr>
            </a:defPPr>
          </a:lstStyle>
          <a:p>
            <a:pPr>
              <a:defRPr sz="2550" b="1">
                <a:solidFill>
                  <a:srgbClr val="F22B86"/>
                </a:solidFill>
                <a:latin typeface="DejaVu Sans"/>
                <a:ea typeface="DejaVu Sans"/>
                <a:cs typeface="DejaVu Sans"/>
              </a:defRPr>
            </a:pPr>
            <a:r>
              <a:rPr sz="2550" b="1">
                <a:solidFill>
                  <a:srgbClr val="F22B86"/>
                </a:solidFill>
                <a:latin typeface="DejaVu Sans"/>
                <a:ea typeface="DejaVu Sans"/>
                <a:cs typeface="DejaVu Sans"/>
              </a:rPr>
              <a:t>01</a:t>
            </a:r>
          </a:p>
        </p:txBody>
      </p:sp>
      <p:sp>
        <p:nvSpPr>
          <p:cNvPr id="10" name="Rectangle 9">
            <a:extLst>
              <a:ext uri="{FF2B5EF4-FFF2-40B4-BE49-F238E27FC236}">
                <a16:creationId xmlns:a16="http://schemas.microsoft.com/office/drawing/2014/main" id="{B16487FE-1332-4541-8A15-543C079583B2}"/>
              </a:ext>
            </a:extLst>
          </p:cNvPr>
          <p:cNvSpPr>
            <a:spLocks noGrp="1"/>
          </p:cNvSpPr>
          <p:nvPr/>
        </p:nvSpPr>
        <p:spPr>
          <a:xfrm>
            <a:off x="1238250" y="2724150"/>
            <a:ext cx="2832100" cy="666750"/>
          </a:xfrm>
          <a:prstGeom prst="rect">
            <a:avLst/>
          </a:prstGeom>
          <a:noFill/>
          <a:ln w="0">
            <a:noFill/>
            <a:prstDash val="solid"/>
          </a:ln>
        </p:spPr>
        <p:txBody>
          <a:bodyPr/>
          <a:lstStyle>
            <a:defPPr>
              <a:defRPr sz="2025" b="1">
                <a:solidFill>
                  <a:srgbClr val="651852"/>
                </a:solidFill>
                <a:latin typeface="DejaVu Sans"/>
                <a:ea typeface="DejaVu Sans"/>
                <a:cs typeface="DejaVu Sans"/>
              </a:defRPr>
            </a:defPPr>
          </a:lstStyle>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Revoir le périmètre</a:t>
            </a:r>
          </a:p>
        </p:txBody>
      </p:sp>
      <p:sp>
        <p:nvSpPr>
          <p:cNvPr id="11" name="Rectangle 10">
            <a:extLst>
              <a:ext uri="{FF2B5EF4-FFF2-40B4-BE49-F238E27FC236}">
                <a16:creationId xmlns:a16="http://schemas.microsoft.com/office/drawing/2014/main" id="{F58B93F1-D7DF-4D0B-8204-8414255C674D}"/>
              </a:ext>
            </a:extLst>
          </p:cNvPr>
          <p:cNvSpPr>
            <a:spLocks noGrp="1"/>
          </p:cNvSpPr>
          <p:nvPr/>
        </p:nvSpPr>
        <p:spPr>
          <a:xfrm>
            <a:off x="1238250" y="3533775"/>
            <a:ext cx="2832100" cy="1428750"/>
          </a:xfrm>
          <a:prstGeom prst="rect">
            <a:avLst/>
          </a:prstGeom>
          <a:noFill/>
          <a:ln w="0">
            <a:noFill/>
            <a:prstDash val="solid"/>
          </a:ln>
        </p:spPr>
        <p:txBody>
          <a:bodyPr/>
          <a:lstStyle>
            <a:defPPr>
              <a:defRPr sz="1725" b="0">
                <a:solidFill>
                  <a:srgbClr val="281F35"/>
                </a:solidFill>
                <a:latin typeface="DejaVu Sans"/>
                <a:ea typeface="DejaVu Sans"/>
                <a:cs typeface="DejaVu Sans"/>
              </a:defRPr>
            </a:defPPr>
          </a:lstStyle>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Discuter les exclusions avec le mentor.</a:t>
            </a:r>
          </a:p>
          <a:p>
            <a:endParaRPr sz="1725" b="0">
              <a:solidFill>
                <a:srgbClr val="281F35"/>
              </a:solidFill>
              <a:latin typeface="DejaVu Sans"/>
              <a:ea typeface="DejaVu Sans"/>
              <a:cs typeface="DejaVu Sans"/>
            </a:endParaRPr>
          </a:p>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Tester la stabilité de la sélection.</a:t>
            </a:r>
          </a:p>
        </p:txBody>
      </p:sp>
      <p:sp>
        <p:nvSpPr>
          <p:cNvPr id="12" name="Rectangle : coins arrondis 11">
            <a:extLst>
              <a:ext uri="{FF2B5EF4-FFF2-40B4-BE49-F238E27FC236}">
                <a16:creationId xmlns:a16="http://schemas.microsoft.com/office/drawing/2014/main" id="{4AB25365-29E8-46AB-BB31-8313AEE68B32}"/>
              </a:ext>
            </a:extLst>
          </p:cNvPr>
          <p:cNvSpPr>
            <a:spLocks noGrp="1"/>
          </p:cNvSpPr>
          <p:nvPr/>
        </p:nvSpPr>
        <p:spPr>
          <a:xfrm>
            <a:off x="4489450" y="2019300"/>
            <a:ext cx="3213100" cy="3143250"/>
          </a:xfrm>
          <a:prstGeom prst="roundRect">
            <a:avLst>
              <a:gd name="adj" fmla="val 2424"/>
            </a:avLst>
          </a:prstGeom>
          <a:solidFill>
            <a:srgbClr val="FFFDFA"/>
          </a:solidFill>
          <a:ln w="9525">
            <a:solidFill>
              <a:srgbClr val="EDDAD9"/>
            </a:solidFill>
            <a:prstDash val="solid"/>
          </a:ln>
        </p:spPr>
        <p:txBody>
          <a:bodyPr/>
          <a:lstStyle/>
          <a:p>
            <a:endParaRPr lang="fr-FR"/>
          </a:p>
        </p:txBody>
      </p:sp>
      <p:sp>
        <p:nvSpPr>
          <p:cNvPr id="13" name="Rectangle 12">
            <a:extLst>
              <a:ext uri="{FF2B5EF4-FFF2-40B4-BE49-F238E27FC236}">
                <a16:creationId xmlns:a16="http://schemas.microsoft.com/office/drawing/2014/main" id="{11460E87-0DC9-47B4-85BF-499605342D24}"/>
              </a:ext>
            </a:extLst>
          </p:cNvPr>
          <p:cNvSpPr>
            <a:spLocks noGrp="1"/>
          </p:cNvSpPr>
          <p:nvPr/>
        </p:nvSpPr>
        <p:spPr>
          <a:xfrm>
            <a:off x="4679950" y="2171700"/>
            <a:ext cx="2832100" cy="400050"/>
          </a:xfrm>
          <a:prstGeom prst="rect">
            <a:avLst/>
          </a:prstGeom>
          <a:noFill/>
          <a:ln w="0">
            <a:noFill/>
            <a:prstDash val="solid"/>
          </a:ln>
        </p:spPr>
        <p:txBody>
          <a:bodyPr/>
          <a:lstStyle>
            <a:defPPr>
              <a:defRPr sz="2550" b="1">
                <a:solidFill>
                  <a:srgbClr val="651852"/>
                </a:solidFill>
                <a:latin typeface="DejaVu Sans"/>
                <a:ea typeface="DejaVu Sans"/>
                <a:cs typeface="DejaVu Sans"/>
              </a:defRPr>
            </a:defPPr>
          </a:lstStyle>
          <a:p>
            <a:pPr>
              <a:defRPr sz="2550" b="1">
                <a:solidFill>
                  <a:srgbClr val="651852"/>
                </a:solidFill>
                <a:latin typeface="DejaVu Sans"/>
                <a:ea typeface="DejaVu Sans"/>
                <a:cs typeface="DejaVu Sans"/>
              </a:defRPr>
            </a:pPr>
            <a:r>
              <a:rPr sz="2550" b="1">
                <a:solidFill>
                  <a:srgbClr val="651852"/>
                </a:solidFill>
                <a:latin typeface="DejaVu Sans"/>
                <a:ea typeface="DejaVu Sans"/>
                <a:cs typeface="DejaVu Sans"/>
              </a:rPr>
              <a:t>02</a:t>
            </a:r>
          </a:p>
        </p:txBody>
      </p:sp>
      <p:sp>
        <p:nvSpPr>
          <p:cNvPr id="14" name="Rectangle 13">
            <a:extLst>
              <a:ext uri="{FF2B5EF4-FFF2-40B4-BE49-F238E27FC236}">
                <a16:creationId xmlns:a16="http://schemas.microsoft.com/office/drawing/2014/main" id="{426E5B2B-E7CD-4035-A2B8-9D299C2ADB26}"/>
              </a:ext>
            </a:extLst>
          </p:cNvPr>
          <p:cNvSpPr>
            <a:spLocks noGrp="1"/>
          </p:cNvSpPr>
          <p:nvPr/>
        </p:nvSpPr>
        <p:spPr>
          <a:xfrm>
            <a:off x="4679950" y="2724150"/>
            <a:ext cx="2832100" cy="666750"/>
          </a:xfrm>
          <a:prstGeom prst="rect">
            <a:avLst/>
          </a:prstGeom>
          <a:noFill/>
          <a:ln w="0">
            <a:noFill/>
            <a:prstDash val="solid"/>
          </a:ln>
        </p:spPr>
        <p:txBody>
          <a:bodyPr/>
          <a:lstStyle>
            <a:defPPr>
              <a:defRPr sz="2025" b="1">
                <a:solidFill>
                  <a:srgbClr val="651852"/>
                </a:solidFill>
                <a:latin typeface="DejaVu Sans"/>
                <a:ea typeface="DejaVu Sans"/>
                <a:cs typeface="DejaVu Sans"/>
              </a:defRPr>
            </a:defPPr>
          </a:lstStyle>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Actualiser et qualifier</a:t>
            </a:r>
          </a:p>
        </p:txBody>
      </p:sp>
      <p:sp>
        <p:nvSpPr>
          <p:cNvPr id="15" name="Rectangle 14">
            <a:extLst>
              <a:ext uri="{FF2B5EF4-FFF2-40B4-BE49-F238E27FC236}">
                <a16:creationId xmlns:a16="http://schemas.microsoft.com/office/drawing/2014/main" id="{58C77344-17CB-43B4-B832-65B3A6410BCB}"/>
              </a:ext>
            </a:extLst>
          </p:cNvPr>
          <p:cNvSpPr>
            <a:spLocks noGrp="1"/>
          </p:cNvSpPr>
          <p:nvPr/>
        </p:nvSpPr>
        <p:spPr>
          <a:xfrm>
            <a:off x="4679950" y="3533775"/>
            <a:ext cx="2832100" cy="1428750"/>
          </a:xfrm>
          <a:prstGeom prst="rect">
            <a:avLst/>
          </a:prstGeom>
          <a:noFill/>
          <a:ln w="0">
            <a:noFill/>
            <a:prstDash val="solid"/>
          </a:ln>
        </p:spPr>
        <p:txBody>
          <a:bodyPr/>
          <a:lstStyle>
            <a:defPPr>
              <a:defRPr sz="1725" b="0">
                <a:solidFill>
                  <a:srgbClr val="281F35"/>
                </a:solidFill>
                <a:latin typeface="DejaVu Sans"/>
                <a:ea typeface="DejaVu Sans"/>
                <a:cs typeface="DejaVu Sans"/>
              </a:defRPr>
            </a:defPPr>
          </a:lstStyle>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Internet, langues et programmes.</a:t>
            </a:r>
          </a:p>
          <a:p>
            <a:endParaRPr sz="1725" b="0">
              <a:solidFill>
                <a:srgbClr val="281F35"/>
              </a:solidFill>
              <a:latin typeface="DejaVu Sans"/>
              <a:ea typeface="DejaVu Sans"/>
              <a:cs typeface="DejaVu Sans"/>
            </a:endParaRPr>
          </a:p>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Capacité à payer et concurrence.</a:t>
            </a:r>
          </a:p>
        </p:txBody>
      </p:sp>
      <p:sp>
        <p:nvSpPr>
          <p:cNvPr id="16" name="Rectangle : coins arrondis 15">
            <a:extLst>
              <a:ext uri="{FF2B5EF4-FFF2-40B4-BE49-F238E27FC236}">
                <a16:creationId xmlns:a16="http://schemas.microsoft.com/office/drawing/2014/main" id="{01B82057-1473-4A88-9107-4C36D9D3C25C}"/>
              </a:ext>
            </a:extLst>
          </p:cNvPr>
          <p:cNvSpPr>
            <a:spLocks noGrp="1"/>
          </p:cNvSpPr>
          <p:nvPr/>
        </p:nvSpPr>
        <p:spPr>
          <a:xfrm>
            <a:off x="7931150" y="2019300"/>
            <a:ext cx="3213100" cy="3143250"/>
          </a:xfrm>
          <a:prstGeom prst="roundRect">
            <a:avLst>
              <a:gd name="adj" fmla="val 2424"/>
            </a:avLst>
          </a:prstGeom>
          <a:solidFill>
            <a:srgbClr val="FFFDFA"/>
          </a:solidFill>
          <a:ln w="9525">
            <a:solidFill>
              <a:srgbClr val="EDDAD9"/>
            </a:solidFill>
            <a:prstDash val="solid"/>
          </a:ln>
        </p:spPr>
        <p:txBody>
          <a:bodyPr/>
          <a:lstStyle/>
          <a:p>
            <a:endParaRPr lang="fr-FR"/>
          </a:p>
        </p:txBody>
      </p:sp>
      <p:sp>
        <p:nvSpPr>
          <p:cNvPr id="17" name="Rectangle 16">
            <a:extLst>
              <a:ext uri="{FF2B5EF4-FFF2-40B4-BE49-F238E27FC236}">
                <a16:creationId xmlns:a16="http://schemas.microsoft.com/office/drawing/2014/main" id="{B5D5BDF4-37F8-4E5E-8E3F-76316D8F621C}"/>
              </a:ext>
            </a:extLst>
          </p:cNvPr>
          <p:cNvSpPr>
            <a:spLocks noGrp="1"/>
          </p:cNvSpPr>
          <p:nvPr/>
        </p:nvSpPr>
        <p:spPr>
          <a:xfrm>
            <a:off x="8121650" y="2171700"/>
            <a:ext cx="2832100" cy="400050"/>
          </a:xfrm>
          <a:prstGeom prst="rect">
            <a:avLst/>
          </a:prstGeom>
          <a:noFill/>
          <a:ln w="0">
            <a:noFill/>
            <a:prstDash val="solid"/>
          </a:ln>
        </p:spPr>
        <p:txBody>
          <a:bodyPr/>
          <a:lstStyle>
            <a:defPPr>
              <a:defRPr sz="2550" b="1">
                <a:solidFill>
                  <a:srgbClr val="F22B86"/>
                </a:solidFill>
                <a:latin typeface="DejaVu Sans"/>
                <a:ea typeface="DejaVu Sans"/>
                <a:cs typeface="DejaVu Sans"/>
              </a:defRPr>
            </a:defPPr>
          </a:lstStyle>
          <a:p>
            <a:pPr>
              <a:defRPr sz="2550" b="1">
                <a:solidFill>
                  <a:srgbClr val="F22B86"/>
                </a:solidFill>
                <a:latin typeface="DejaVu Sans"/>
                <a:ea typeface="DejaVu Sans"/>
                <a:cs typeface="DejaVu Sans"/>
              </a:defRPr>
            </a:pPr>
            <a:r>
              <a:rPr sz="2550" b="1">
                <a:solidFill>
                  <a:srgbClr val="F22B86"/>
                </a:solidFill>
                <a:latin typeface="DejaVu Sans"/>
                <a:ea typeface="DejaVu Sans"/>
                <a:cs typeface="DejaVu Sans"/>
              </a:rPr>
              <a:t>03</a:t>
            </a:r>
          </a:p>
        </p:txBody>
      </p:sp>
      <p:sp>
        <p:nvSpPr>
          <p:cNvPr id="18" name="Rectangle 17">
            <a:extLst>
              <a:ext uri="{FF2B5EF4-FFF2-40B4-BE49-F238E27FC236}">
                <a16:creationId xmlns:a16="http://schemas.microsoft.com/office/drawing/2014/main" id="{F8BB4486-E79E-4FB8-8E58-60427CA90585}"/>
              </a:ext>
            </a:extLst>
          </p:cNvPr>
          <p:cNvSpPr>
            <a:spLocks noGrp="1"/>
          </p:cNvSpPr>
          <p:nvPr/>
        </p:nvSpPr>
        <p:spPr>
          <a:xfrm>
            <a:off x="8121650" y="2724150"/>
            <a:ext cx="2832100" cy="666750"/>
          </a:xfrm>
          <a:prstGeom prst="rect">
            <a:avLst/>
          </a:prstGeom>
          <a:noFill/>
          <a:ln w="0">
            <a:noFill/>
            <a:prstDash val="solid"/>
          </a:ln>
        </p:spPr>
        <p:txBody>
          <a:bodyPr/>
          <a:lstStyle>
            <a:defPPr>
              <a:defRPr sz="2025" b="1">
                <a:solidFill>
                  <a:srgbClr val="651852"/>
                </a:solidFill>
                <a:latin typeface="DejaVu Sans"/>
                <a:ea typeface="DejaVu Sans"/>
                <a:cs typeface="DejaVu Sans"/>
              </a:defRPr>
            </a:defPPr>
          </a:lstStyle>
          <a:p>
            <a:pPr>
              <a:defRPr sz="2025" b="1">
                <a:solidFill>
                  <a:srgbClr val="651852"/>
                </a:solidFill>
                <a:latin typeface="DejaVu Sans"/>
                <a:ea typeface="DejaVu Sans"/>
                <a:cs typeface="DejaVu Sans"/>
              </a:defRPr>
            </a:pPr>
            <a:r>
              <a:rPr sz="2025" b="1">
                <a:solidFill>
                  <a:srgbClr val="651852"/>
                </a:solidFill>
                <a:latin typeface="DejaVu Sans"/>
                <a:ea typeface="DejaVu Sans"/>
                <a:cs typeface="DejaVu Sans"/>
              </a:rPr>
              <a:t>Tester l’offre</a:t>
            </a:r>
          </a:p>
        </p:txBody>
      </p:sp>
      <p:sp>
        <p:nvSpPr>
          <p:cNvPr id="19" name="Rectangle 18">
            <a:extLst>
              <a:ext uri="{FF2B5EF4-FFF2-40B4-BE49-F238E27FC236}">
                <a16:creationId xmlns:a16="http://schemas.microsoft.com/office/drawing/2014/main" id="{2D34B6CC-4B58-4545-971E-88179D09B7AD}"/>
              </a:ext>
            </a:extLst>
          </p:cNvPr>
          <p:cNvSpPr>
            <a:spLocks noGrp="1"/>
          </p:cNvSpPr>
          <p:nvPr/>
        </p:nvSpPr>
        <p:spPr>
          <a:xfrm>
            <a:off x="8121650" y="3533775"/>
            <a:ext cx="2832100" cy="1428750"/>
          </a:xfrm>
          <a:prstGeom prst="rect">
            <a:avLst/>
          </a:prstGeom>
          <a:noFill/>
          <a:ln w="0">
            <a:noFill/>
            <a:prstDash val="solid"/>
          </a:ln>
        </p:spPr>
        <p:txBody>
          <a:bodyPr/>
          <a:lstStyle>
            <a:defPPr>
              <a:defRPr sz="1725" b="0">
                <a:solidFill>
                  <a:srgbClr val="281F35"/>
                </a:solidFill>
                <a:latin typeface="DejaVu Sans"/>
                <a:ea typeface="DejaVu Sans"/>
                <a:cs typeface="DejaVu Sans"/>
              </a:defRPr>
            </a:defPPr>
          </a:lstStyle>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Pilote sur un ou deux marchés qualifiés.</a:t>
            </a:r>
          </a:p>
          <a:p>
            <a:endParaRPr sz="1725" b="0">
              <a:solidFill>
                <a:srgbClr val="281F35"/>
              </a:solidFill>
              <a:latin typeface="DejaVu Sans"/>
              <a:ea typeface="DejaVu Sans"/>
              <a:cs typeface="DejaVu Sans"/>
            </a:endParaRPr>
          </a:p>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Conversion, engagement et coût d’acquisition.</a:t>
            </a:r>
          </a:p>
        </p:txBody>
      </p:sp>
      <p:sp>
        <p:nvSpPr>
          <p:cNvPr id="20" name="Rectangle : coins arrondis 19">
            <a:extLst>
              <a:ext uri="{FF2B5EF4-FFF2-40B4-BE49-F238E27FC236}">
                <a16:creationId xmlns:a16="http://schemas.microsoft.com/office/drawing/2014/main" id="{B246C927-32A4-469F-A8C5-F5CFB56C096F}"/>
              </a:ext>
            </a:extLst>
          </p:cNvPr>
          <p:cNvSpPr>
            <a:spLocks noGrp="1"/>
          </p:cNvSpPr>
          <p:nvPr/>
        </p:nvSpPr>
        <p:spPr>
          <a:xfrm>
            <a:off x="1285875" y="5581650"/>
            <a:ext cx="9620250" cy="619125"/>
          </a:xfrm>
          <a:prstGeom prst="roundRect">
            <a:avLst>
              <a:gd name="adj" fmla="val 12308"/>
            </a:avLst>
          </a:prstGeom>
          <a:solidFill>
            <a:srgbClr val="FFFDFA"/>
          </a:solidFill>
          <a:ln w="9525">
            <a:solidFill>
              <a:srgbClr val="F22B86"/>
            </a:solidFill>
            <a:prstDash val="solid"/>
          </a:ln>
        </p:spPr>
        <p:txBody>
          <a:bodyPr/>
          <a:lstStyle/>
          <a:p>
            <a:endParaRPr lang="fr-FR"/>
          </a:p>
        </p:txBody>
      </p:sp>
      <p:sp>
        <p:nvSpPr>
          <p:cNvPr id="21" name="Rectangle 20">
            <a:extLst>
              <a:ext uri="{FF2B5EF4-FFF2-40B4-BE49-F238E27FC236}">
                <a16:creationId xmlns:a16="http://schemas.microsoft.com/office/drawing/2014/main" id="{75E24713-FCB7-45A1-B473-CA46022AB47A}"/>
              </a:ext>
            </a:extLst>
          </p:cNvPr>
          <p:cNvSpPr>
            <a:spLocks noGrp="1"/>
          </p:cNvSpPr>
          <p:nvPr/>
        </p:nvSpPr>
        <p:spPr>
          <a:xfrm>
            <a:off x="1476375" y="5724525"/>
            <a:ext cx="1619250" cy="333375"/>
          </a:xfrm>
          <a:prstGeom prst="rect">
            <a:avLst/>
          </a:prstGeom>
          <a:noFill/>
          <a:ln w="0">
            <a:noFill/>
            <a:prstDash val="solid"/>
          </a:ln>
        </p:spPr>
        <p:txBody>
          <a:bodyPr/>
          <a:lstStyle>
            <a:defPPr>
              <a:defRPr sz="1875" b="1">
                <a:solidFill>
                  <a:srgbClr val="F22B86"/>
                </a:solidFill>
                <a:latin typeface="DejaVu Serif"/>
                <a:ea typeface="DejaVu Serif"/>
                <a:cs typeface="DejaVu Serif"/>
              </a:defRPr>
            </a:defPPr>
          </a:lstStyle>
          <a:p>
            <a:pPr>
              <a:defRPr sz="1875" b="1">
                <a:solidFill>
                  <a:srgbClr val="F22B86"/>
                </a:solidFill>
                <a:latin typeface="DejaVu Serif"/>
                <a:ea typeface="DejaVu Serif"/>
                <a:cs typeface="DejaVu Serif"/>
              </a:defRPr>
            </a:pPr>
            <a:r>
              <a:rPr sz="1875" b="1">
                <a:solidFill>
                  <a:srgbClr val="F22B86"/>
                </a:solidFill>
                <a:latin typeface="DejaVu Serif"/>
                <a:ea typeface="DejaVu Serif"/>
                <a:cs typeface="DejaVu Serif"/>
              </a:rPr>
              <a:t>À retenir</a:t>
            </a:r>
          </a:p>
        </p:txBody>
      </p:sp>
      <p:sp>
        <p:nvSpPr>
          <p:cNvPr id="22" name="Rectangle 21">
            <a:extLst>
              <a:ext uri="{FF2B5EF4-FFF2-40B4-BE49-F238E27FC236}">
                <a16:creationId xmlns:a16="http://schemas.microsoft.com/office/drawing/2014/main" id="{F71430D5-C281-4CB7-AF0F-C97D4E6F2240}"/>
              </a:ext>
            </a:extLst>
          </p:cNvPr>
          <p:cNvSpPr>
            <a:spLocks noGrp="1"/>
          </p:cNvSpPr>
          <p:nvPr/>
        </p:nvSpPr>
        <p:spPr>
          <a:xfrm>
            <a:off x="3190875" y="5695950"/>
            <a:ext cx="7381875" cy="447675"/>
          </a:xfrm>
          <a:prstGeom prst="rect">
            <a:avLst/>
          </a:prstGeom>
          <a:noFill/>
          <a:ln w="0">
            <a:noFill/>
            <a:prstDash val="solid"/>
          </a:ln>
        </p:spPr>
        <p:txBody>
          <a:bodyPr/>
          <a:lstStyle>
            <a:defPPr>
              <a:defRPr sz="1575" b="0">
                <a:solidFill>
                  <a:srgbClr val="281F35"/>
                </a:solidFill>
                <a:latin typeface="DejaVu Sans"/>
                <a:ea typeface="DejaVu Sans"/>
                <a:cs typeface="DejaVu Sans"/>
              </a:defRPr>
            </a:defPPr>
          </a:lstStyle>
          <a:p>
            <a:pPr>
              <a:defRPr sz="1575" b="0">
                <a:solidFill>
                  <a:srgbClr val="281F35"/>
                </a:solidFill>
                <a:latin typeface="DejaVu Sans"/>
                <a:ea typeface="DejaVu Sans"/>
                <a:cs typeface="DejaVu Sans"/>
              </a:defRPr>
            </a:pPr>
            <a:r>
              <a:rPr sz="1575" b="0">
                <a:solidFill>
                  <a:srgbClr val="281F35"/>
                </a:solidFill>
                <a:latin typeface="DejaVu Sans"/>
                <a:ea typeface="DejaVu Sans"/>
                <a:cs typeface="DejaVu Sans"/>
              </a:rPr>
              <a:t>Les objectifs du pilote guideront le déploiement ou l’adaptation</a:t>
            </a:r>
          </a:p>
        </p:txBody>
      </p:sp>
    </p:spTree>
    <p:extLst>
      <p:ext uri="{BB962C8B-B14F-4D97-AF65-F5344CB8AC3E}">
        <p14:creationId xmlns:p14="http://schemas.microsoft.com/office/powerpoint/2010/main" val="2008686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1D50A76B-86DC-41C3-8B28-EA869BCA41D7}"/>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2E0C0B05-0E27-415D-873D-D1AA7C5794E9}"/>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F1767E3A-D7E8-47D1-A51A-1CF52AFE34EF}"/>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E7DEBC75-3826-41C4-985E-C231921A97F2}"/>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Planning prévisionnel comparatif</a:t>
            </a:r>
          </a:p>
        </p:txBody>
      </p:sp>
      <p:sp>
        <p:nvSpPr>
          <p:cNvPr id="5" name="Rectangle 4">
            <a:extLst>
              <a:ext uri="{FF2B5EF4-FFF2-40B4-BE49-F238E27FC236}">
                <a16:creationId xmlns:a16="http://schemas.microsoft.com/office/drawing/2014/main" id="{3CD39133-121B-45F7-A3EF-0F2E9DCDA345}"/>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Deux scénarios estimatifs pour le même périmètre d’étude</a:t>
            </a:r>
          </a:p>
        </p:txBody>
      </p:sp>
      <p:sp>
        <p:nvSpPr>
          <p:cNvPr id="6" name="Rectangle 5">
            <a:extLst>
              <a:ext uri="{FF2B5EF4-FFF2-40B4-BE49-F238E27FC236}">
                <a16:creationId xmlns:a16="http://schemas.microsoft.com/office/drawing/2014/main" id="{5F322F60-6AE0-4488-AB4B-4A732353826E}"/>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44956806-140B-49D9-A12D-B927FB4980DC}"/>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17</a:t>
            </a:r>
          </a:p>
        </p:txBody>
      </p:sp>
      <p:pic>
        <p:nvPicPr>
          <p:cNvPr id="8" name="Image 7">
            <a:extLst>
              <a:ext uri="{FF2B5EF4-FFF2-40B4-BE49-F238E27FC236}">
                <a16:creationId xmlns:a16="http://schemas.microsoft.com/office/drawing/2014/main" id="{6D6A6699-BF12-40F6-9BA3-B62F968C171E}"/>
              </a:ext>
            </a:extLst>
          </p:cNvPr>
          <p:cNvPicPr>
            <a:picLocks noChangeAspect="1"/>
          </p:cNvPicPr>
          <p:nvPr/>
        </p:nvPicPr>
        <p:blipFill>
          <a:blip r:embed="rId6"/>
          <a:stretch/>
        </p:blipFill>
        <p:spPr>
          <a:xfrm>
            <a:off x="2022573" y="1647825"/>
            <a:ext cx="8146855" cy="4143375"/>
          </a:xfrm>
          <a:prstGeom prst="rect">
            <a:avLst/>
          </a:prstGeom>
        </p:spPr>
      </p:pic>
      <p:sp>
        <p:nvSpPr>
          <p:cNvPr id="9" name="Rectangle 8">
            <a:extLst>
              <a:ext uri="{FF2B5EF4-FFF2-40B4-BE49-F238E27FC236}">
                <a16:creationId xmlns:a16="http://schemas.microsoft.com/office/drawing/2014/main" id="{25F00AA2-DD80-4F79-8F50-3FDA4A83CBA0}"/>
              </a:ext>
            </a:extLst>
          </p:cNvPr>
          <p:cNvSpPr>
            <a:spLocks noGrp="1"/>
          </p:cNvSpPr>
          <p:nvPr/>
        </p:nvSpPr>
        <p:spPr>
          <a:xfrm>
            <a:off x="1428750" y="5848350"/>
            <a:ext cx="9620250" cy="314325"/>
          </a:xfrm>
          <a:prstGeom prst="rect">
            <a:avLst/>
          </a:prstGeom>
          <a:noFill/>
          <a:ln w="0">
            <a:noFill/>
            <a:prstDash val="solid"/>
          </a:ln>
        </p:spPr>
        <p:txBody>
          <a:bodyPr/>
          <a:lstStyle>
            <a:defPPr>
              <a:defRPr sz="1500" b="1">
                <a:solidFill>
                  <a:srgbClr val="651852"/>
                </a:solidFill>
                <a:latin typeface="DejaVu Sans"/>
                <a:ea typeface="DejaVu Sans"/>
                <a:cs typeface="DejaVu Sans"/>
              </a:defRPr>
            </a:defPPr>
          </a:lstStyle>
          <a:p>
            <a:pPr>
              <a:defRPr sz="1500" b="1">
                <a:solidFill>
                  <a:srgbClr val="651852"/>
                </a:solidFill>
                <a:latin typeface="DejaVu Sans"/>
                <a:ea typeface="DejaVu Sans"/>
                <a:cs typeface="DejaVu Sans"/>
              </a:defRPr>
            </a:pPr>
            <a:r>
              <a:rPr sz="1500" b="1">
                <a:solidFill>
                  <a:srgbClr val="651852"/>
                </a:solidFill>
                <a:latin typeface="DejaVu Sans"/>
                <a:ea typeface="DejaVu Sans"/>
                <a:cs typeface="DejaVu Sans"/>
              </a:rPr>
              <a:t>Expert : 10 jours (14–25/09)     Étudiant : 25 jours supposés (14/09–16/10)</a:t>
            </a:r>
          </a:p>
        </p:txBody>
      </p:sp>
    </p:spTree>
    <p:extLst>
      <p:ext uri="{BB962C8B-B14F-4D97-AF65-F5344CB8AC3E}">
        <p14:creationId xmlns:p14="http://schemas.microsoft.com/office/powerpoint/2010/main" val="3778511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2" name="Image 11">
            <a:extLst>
              <a:ext uri="{FF2B5EF4-FFF2-40B4-BE49-F238E27FC236}">
                <a16:creationId xmlns:a16="http://schemas.microsoft.com/office/drawing/2014/main" id="{1D9AADD3-0D96-4A0B-BCF7-687E1B36F4F5}"/>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9CFD5D56-BF02-48D4-981E-CD7C15778960}"/>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A5A763F0-8C3E-4889-B499-6706FBC58BEA}"/>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DC49C522-B1E3-4C4C-B6E1-53D1C25970E2}"/>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Comparer les coûts</a:t>
            </a:r>
          </a:p>
        </p:txBody>
      </p:sp>
      <p:sp>
        <p:nvSpPr>
          <p:cNvPr id="5" name="Rectangle 4">
            <a:extLst>
              <a:ext uri="{FF2B5EF4-FFF2-40B4-BE49-F238E27FC236}">
                <a16:creationId xmlns:a16="http://schemas.microsoft.com/office/drawing/2014/main" id="{3541EC05-27A1-4444-86E0-CB2120DB44E5}"/>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Une prestation estimée et une valorisation du temps étudiant</a:t>
            </a:r>
          </a:p>
        </p:txBody>
      </p:sp>
      <p:sp>
        <p:nvSpPr>
          <p:cNvPr id="6" name="Rectangle 5">
            <a:extLst>
              <a:ext uri="{FF2B5EF4-FFF2-40B4-BE49-F238E27FC236}">
                <a16:creationId xmlns:a16="http://schemas.microsoft.com/office/drawing/2014/main" id="{B3307544-365A-4F7D-A94B-345FBB3FA74D}"/>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020C231B-C196-42FC-A48C-C290F2258FE8}"/>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18</a:t>
            </a:r>
          </a:p>
        </p:txBody>
      </p:sp>
      <p:pic>
        <p:nvPicPr>
          <p:cNvPr id="8" name="Image 7">
            <a:extLst>
              <a:ext uri="{FF2B5EF4-FFF2-40B4-BE49-F238E27FC236}">
                <a16:creationId xmlns:a16="http://schemas.microsoft.com/office/drawing/2014/main" id="{01F457D4-6637-4301-96AE-77B905091CC4}"/>
              </a:ext>
            </a:extLst>
          </p:cNvPr>
          <p:cNvPicPr>
            <a:picLocks noChangeAspect="1"/>
          </p:cNvPicPr>
          <p:nvPr/>
        </p:nvPicPr>
        <p:blipFill>
          <a:blip r:embed="rId6"/>
          <a:stretch/>
        </p:blipFill>
        <p:spPr>
          <a:xfrm>
            <a:off x="1047750" y="1717098"/>
            <a:ext cx="6667500" cy="2909455"/>
          </a:xfrm>
          <a:prstGeom prst="rect">
            <a:avLst/>
          </a:prstGeom>
        </p:spPr>
      </p:pic>
      <p:pic>
        <p:nvPicPr>
          <p:cNvPr id="9" name="Image 8">
            <a:extLst>
              <a:ext uri="{FF2B5EF4-FFF2-40B4-BE49-F238E27FC236}">
                <a16:creationId xmlns:a16="http://schemas.microsoft.com/office/drawing/2014/main" id="{3A2A068E-A7F7-4AD0-B270-9430EDBFE4EC}"/>
              </a:ext>
            </a:extLst>
          </p:cNvPr>
          <p:cNvPicPr>
            <a:picLocks noChangeAspect="1"/>
          </p:cNvPicPr>
          <p:nvPr/>
        </p:nvPicPr>
        <p:blipFill>
          <a:blip r:embed="rId7"/>
          <a:stretch/>
        </p:blipFill>
        <p:spPr>
          <a:xfrm>
            <a:off x="7825946" y="1762125"/>
            <a:ext cx="3398108" cy="2857500"/>
          </a:xfrm>
          <a:prstGeom prst="rect">
            <a:avLst/>
          </a:prstGeom>
        </p:spPr>
      </p:pic>
      <p:sp>
        <p:nvSpPr>
          <p:cNvPr id="10" name="Rectangle 9">
            <a:extLst>
              <a:ext uri="{FF2B5EF4-FFF2-40B4-BE49-F238E27FC236}">
                <a16:creationId xmlns:a16="http://schemas.microsoft.com/office/drawing/2014/main" id="{607DF1E7-BEB1-4E39-AB06-D02A3CBAC8F1}"/>
              </a:ext>
            </a:extLst>
          </p:cNvPr>
          <p:cNvSpPr>
            <a:spLocks noGrp="1"/>
          </p:cNvSpPr>
          <p:nvPr/>
        </p:nvSpPr>
        <p:spPr>
          <a:xfrm>
            <a:off x="1381125" y="4810125"/>
            <a:ext cx="9763125" cy="638175"/>
          </a:xfrm>
          <a:prstGeom prst="rect">
            <a:avLst/>
          </a:prstGeom>
          <a:noFill/>
          <a:ln w="0">
            <a:noFill/>
            <a:prstDash val="solid"/>
          </a:ln>
        </p:spPr>
        <p:txBody>
          <a:bodyPr/>
          <a:lstStyle>
            <a:defPPr>
              <a:defRPr sz="1725" b="0">
                <a:solidFill>
                  <a:srgbClr val="281F35"/>
                </a:solidFill>
                <a:latin typeface="DejaVu Sans"/>
                <a:ea typeface="DejaVu Sans"/>
                <a:cs typeface="DejaVu Sans"/>
              </a:defRPr>
            </a:defPPr>
          </a:lstStyle>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7 000 € HT : expert à 700 €/jour pendant 10 jours.</a:t>
            </a:r>
          </a:p>
          <a:p>
            <a:pPr>
              <a:defRPr sz="1725" b="0">
                <a:solidFill>
                  <a:srgbClr val="281F35"/>
                </a:solidFill>
                <a:latin typeface="DejaVu Sans"/>
                <a:ea typeface="DejaVu Sans"/>
                <a:cs typeface="DejaVu Sans"/>
              </a:defRPr>
            </a:pPr>
            <a:r>
              <a:rPr sz="1725" b="0">
                <a:solidFill>
                  <a:srgbClr val="281F35"/>
                </a:solidFill>
                <a:latin typeface="DejaVu Sans"/>
                <a:ea typeface="DejaVu Sans"/>
                <a:cs typeface="DejaVu Sans"/>
              </a:rPr>
              <a:t>2 625 € : temps étudiant valorisé à 15 €/h sur 175 h supposées.</a:t>
            </a:r>
          </a:p>
        </p:txBody>
      </p:sp>
      <p:sp>
        <p:nvSpPr>
          <p:cNvPr id="11" name="Rectangle 10">
            <a:extLst>
              <a:ext uri="{FF2B5EF4-FFF2-40B4-BE49-F238E27FC236}">
                <a16:creationId xmlns:a16="http://schemas.microsoft.com/office/drawing/2014/main" id="{975FD591-1035-4F76-A06D-11223135B5CB}"/>
              </a:ext>
            </a:extLst>
          </p:cNvPr>
          <p:cNvSpPr>
            <a:spLocks noGrp="1"/>
          </p:cNvSpPr>
          <p:nvPr/>
        </p:nvSpPr>
        <p:spPr>
          <a:xfrm>
            <a:off x="1381125" y="5591175"/>
            <a:ext cx="9620250" cy="581025"/>
          </a:xfrm>
          <a:prstGeom prst="rect">
            <a:avLst/>
          </a:prstGeom>
          <a:noFill/>
          <a:ln w="0">
            <a:noFill/>
            <a:prstDash val="solid"/>
          </a:ln>
        </p:spPr>
        <p:txBody>
          <a:bodyPr/>
          <a:lstStyle>
            <a:defPPr>
              <a:defRPr sz="1650" b="1">
                <a:solidFill>
                  <a:srgbClr val="651852"/>
                </a:solidFill>
                <a:latin typeface="DejaVu Sans"/>
                <a:ea typeface="DejaVu Sans"/>
                <a:cs typeface="DejaVu Sans"/>
              </a:defRPr>
            </a:defPPr>
          </a:lstStyle>
          <a:p>
            <a:pPr>
              <a:defRPr sz="1650" b="1">
                <a:solidFill>
                  <a:srgbClr val="651852"/>
                </a:solidFill>
                <a:latin typeface="DejaVu Sans"/>
                <a:ea typeface="DejaVu Sans"/>
                <a:cs typeface="DejaVu Sans"/>
              </a:defRPr>
            </a:pPr>
            <a:r>
              <a:rPr sz="1650" b="1">
                <a:solidFill>
                  <a:srgbClr val="651852"/>
                </a:solidFill>
                <a:latin typeface="DejaVu Sans"/>
                <a:ea typeface="DejaVu Sans"/>
                <a:cs typeface="DejaVu Sans"/>
              </a:rPr>
              <a:t>France Travail finance formation et accompagnement.</a:t>
            </a:r>
          </a:p>
          <a:p>
            <a:pPr>
              <a:defRPr sz="1650" b="1">
                <a:solidFill>
                  <a:srgbClr val="651852"/>
                </a:solidFill>
                <a:latin typeface="DejaVu Sans"/>
                <a:ea typeface="DejaVu Sans"/>
                <a:cs typeface="DejaVu Sans"/>
              </a:defRPr>
            </a:pPr>
            <a:r>
              <a:rPr sz="1650" b="1">
                <a:solidFill>
                  <a:srgbClr val="651852"/>
                </a:solidFill>
                <a:latin typeface="DejaVu Sans"/>
                <a:ea typeface="DejaVu Sans"/>
                <a:cs typeface="DejaVu Sans"/>
              </a:rPr>
              <a:t>Montant non communiqué, exclu des graphiques.</a:t>
            </a:r>
          </a:p>
        </p:txBody>
      </p:sp>
    </p:spTree>
    <p:extLst>
      <p:ext uri="{BB962C8B-B14F-4D97-AF65-F5344CB8AC3E}">
        <p14:creationId xmlns:p14="http://schemas.microsoft.com/office/powerpoint/2010/main" val="18774482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9" name="Image 8">
            <a:extLst>
              <a:ext uri="{FF2B5EF4-FFF2-40B4-BE49-F238E27FC236}">
                <a16:creationId xmlns:a16="http://schemas.microsoft.com/office/drawing/2014/main" id="{754AA865-BF83-429F-B096-491BB97AE28F}"/>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1A52C601-F5A8-4EC2-AA0F-EACB1316AEE1}"/>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F2E70BAD-258C-4CE4-8330-36EB9CECE4CA}"/>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B826F7C9-91EF-4CC4-BDCE-C67E1E352297}"/>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Merci pour votre attention</a:t>
            </a:r>
          </a:p>
        </p:txBody>
      </p:sp>
      <p:sp>
        <p:nvSpPr>
          <p:cNvPr id="5" name="Rectangle 4">
            <a:extLst>
              <a:ext uri="{FF2B5EF4-FFF2-40B4-BE49-F238E27FC236}">
                <a16:creationId xmlns:a16="http://schemas.microsoft.com/office/drawing/2014/main" id="{0DDE8B96-EF2F-423F-9099-87CF9ABBFDA7}"/>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6" name="Rectangle 5">
            <a:extLst>
              <a:ext uri="{FF2B5EF4-FFF2-40B4-BE49-F238E27FC236}">
                <a16:creationId xmlns:a16="http://schemas.microsoft.com/office/drawing/2014/main" id="{7ED9CD57-B4A7-444C-9F91-F3ACD9534400}"/>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19</a:t>
            </a:r>
          </a:p>
        </p:txBody>
      </p:sp>
      <p:sp>
        <p:nvSpPr>
          <p:cNvPr id="7" name="Rectangle 6">
            <a:extLst>
              <a:ext uri="{FF2B5EF4-FFF2-40B4-BE49-F238E27FC236}">
                <a16:creationId xmlns:a16="http://schemas.microsoft.com/office/drawing/2014/main" id="{0C80A0DC-BBCE-41BA-BB24-3D840EA36874}"/>
              </a:ext>
            </a:extLst>
          </p:cNvPr>
          <p:cNvSpPr>
            <a:spLocks noGrp="1"/>
          </p:cNvSpPr>
          <p:nvPr/>
        </p:nvSpPr>
        <p:spPr>
          <a:xfrm>
            <a:off x="1762125" y="2619375"/>
            <a:ext cx="9048750" cy="1095375"/>
          </a:xfrm>
          <a:prstGeom prst="rect">
            <a:avLst/>
          </a:prstGeom>
          <a:noFill/>
          <a:ln w="0">
            <a:noFill/>
            <a:prstDash val="solid"/>
          </a:ln>
        </p:spPr>
        <p:txBody>
          <a:bodyPr/>
          <a:lstStyle>
            <a:defPPr>
              <a:defRPr sz="4950" b="1">
                <a:solidFill>
                  <a:srgbClr val="651852"/>
                </a:solidFill>
                <a:latin typeface="DejaVu Serif"/>
                <a:ea typeface="DejaVu Serif"/>
                <a:cs typeface="DejaVu Serif"/>
              </a:defRPr>
            </a:defPPr>
          </a:lstStyle>
          <a:p>
            <a:pPr>
              <a:defRPr sz="4950" b="1">
                <a:solidFill>
                  <a:srgbClr val="651852"/>
                </a:solidFill>
                <a:latin typeface="DejaVu Serif"/>
                <a:ea typeface="DejaVu Serif"/>
                <a:cs typeface="DejaVu Serif"/>
              </a:defRPr>
            </a:pPr>
            <a:r>
              <a:rPr sz="4950" b="1">
                <a:solidFill>
                  <a:srgbClr val="651852"/>
                </a:solidFill>
                <a:latin typeface="DejaVu Serif"/>
                <a:ea typeface="DejaVu Serif"/>
                <a:cs typeface="DejaVu Serif"/>
              </a:rPr>
              <a:t>Questions ?</a:t>
            </a:r>
          </a:p>
        </p:txBody>
      </p:sp>
      <p:sp>
        <p:nvSpPr>
          <p:cNvPr id="8" name="Rectangle 7">
            <a:extLst>
              <a:ext uri="{FF2B5EF4-FFF2-40B4-BE49-F238E27FC236}">
                <a16:creationId xmlns:a16="http://schemas.microsoft.com/office/drawing/2014/main" id="{AFE899B2-FC7C-481E-BA87-612204E787C0}"/>
              </a:ext>
            </a:extLst>
          </p:cNvPr>
          <p:cNvSpPr>
            <a:spLocks noGrp="1"/>
          </p:cNvSpPr>
          <p:nvPr/>
        </p:nvSpPr>
        <p:spPr>
          <a:xfrm>
            <a:off x="1809750" y="4191000"/>
            <a:ext cx="8858250" cy="809625"/>
          </a:xfrm>
          <a:prstGeom prst="rect">
            <a:avLst/>
          </a:prstGeom>
          <a:noFill/>
          <a:ln w="0">
            <a:noFill/>
            <a:prstDash val="solid"/>
          </a:ln>
        </p:spPr>
        <p:txBody>
          <a:bodyPr/>
          <a:lstStyle>
            <a:defPPr>
              <a:defRPr sz="2025" b="0">
                <a:solidFill>
                  <a:srgbClr val="281F35"/>
                </a:solidFill>
                <a:latin typeface="DejaVu Sans"/>
                <a:ea typeface="DejaVu Sans"/>
                <a:cs typeface="DejaVu Sans"/>
              </a:defRPr>
            </a:defPPr>
          </a:lstStyle>
          <a:p>
            <a:pPr>
              <a:defRPr sz="2025" b="0">
                <a:solidFill>
                  <a:srgbClr val="281F35"/>
                </a:solidFill>
                <a:latin typeface="DejaVu Sans"/>
                <a:ea typeface="DejaVu Sans"/>
                <a:cs typeface="DejaVu Sans"/>
              </a:defRPr>
            </a:pPr>
            <a:r>
              <a:rPr sz="2025" b="0">
                <a:solidFill>
                  <a:srgbClr val="281F35"/>
                </a:solidFill>
                <a:latin typeface="DejaVu Sans"/>
                <a:ea typeface="DejaVu Sans"/>
                <a:cs typeface="DejaVu Sans"/>
              </a:rPr>
              <a:t>Wahid Nejjam</a:t>
            </a:r>
          </a:p>
          <a:p>
            <a:pPr>
              <a:defRPr sz="2025" b="0">
                <a:solidFill>
                  <a:srgbClr val="281F35"/>
                </a:solidFill>
                <a:latin typeface="DejaVu Sans"/>
                <a:ea typeface="DejaVu Sans"/>
                <a:cs typeface="DejaVu Sans"/>
              </a:defRPr>
            </a:pPr>
            <a:r>
              <a:rPr sz="2025" b="0">
                <a:solidFill>
                  <a:srgbClr val="281F35"/>
                </a:solidFill>
                <a:latin typeface="DejaVu Sans"/>
                <a:ea typeface="DejaVu Sans"/>
                <a:cs typeface="DejaVu Sans"/>
              </a:rPr>
              <a:t>Analyse exploratoire pour academy</a:t>
            </a:r>
          </a:p>
        </p:txBody>
      </p:sp>
    </p:spTree>
    <p:extLst>
      <p:ext uri="{BB962C8B-B14F-4D97-AF65-F5344CB8AC3E}">
        <p14:creationId xmlns:p14="http://schemas.microsoft.com/office/powerpoint/2010/main" val="19395461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9F0"/>
        </a:solidFill>
        <a:effectLst/>
      </p:bgPr>
    </p:bg>
    <p:spTree>
      <p:nvGrpSpPr>
        <p:cNvPr id="1" name=""/>
        <p:cNvGrpSpPr/>
        <p:nvPr/>
      </p:nvGrpSpPr>
      <p:grpSpPr>
        <a:xfrm>
          <a:off x="0" y="0"/>
          <a:ext cx="0" cy="0"/>
          <a:chOff x="0" y="0"/>
          <a:chExt cx="0" cy="0"/>
        </a:xfrm>
      </p:grpSpPr>
      <p:pic>
        <p:nvPicPr>
          <p:cNvPr id="10" name="Image 9">
            <a:extLst>
              <a:ext uri="{FF2B5EF4-FFF2-40B4-BE49-F238E27FC236}">
                <a16:creationId xmlns:a16="http://schemas.microsoft.com/office/drawing/2014/main" id="{E8BCE8CA-F432-4D4E-979E-E75720BD2194}"/>
              </a:ext>
            </a:extLst>
          </p:cNvPr>
          <p:cNvPicPr>
            <a:picLocks noChangeAspect="1"/>
          </p:cNvPicPr>
          <p:nvPr/>
        </p:nvPicPr>
        <p:blipFill>
          <a:blip r:embed="rId3"/>
          <a:stretch/>
        </p:blipFill>
        <p:spPr>
          <a:xfrm>
            <a:off x="144" y="0"/>
            <a:ext cx="1618961" cy="1352550"/>
          </a:xfrm>
          <a:prstGeom prst="rect">
            <a:avLst/>
          </a:prstGeom>
        </p:spPr>
      </p:pic>
      <p:pic>
        <p:nvPicPr>
          <p:cNvPr id="2" name="Image 1">
            <a:extLst>
              <a:ext uri="{FF2B5EF4-FFF2-40B4-BE49-F238E27FC236}">
                <a16:creationId xmlns:a16="http://schemas.microsoft.com/office/drawing/2014/main" id="{B00F5B32-C3C3-4741-9036-7EC636DDAB89}"/>
              </a:ext>
            </a:extLst>
          </p:cNvPr>
          <p:cNvPicPr>
            <a:picLocks noChangeAspect="1"/>
          </p:cNvPicPr>
          <p:nvPr/>
        </p:nvPicPr>
        <p:blipFill>
          <a:blip r:embed="rId4"/>
          <a:stretch/>
        </p:blipFill>
        <p:spPr>
          <a:xfrm>
            <a:off x="0" y="5241131"/>
            <a:ext cx="1095375" cy="1357313"/>
          </a:xfrm>
          <a:prstGeom prst="rect">
            <a:avLst/>
          </a:prstGeom>
        </p:spPr>
      </p:pic>
      <p:pic>
        <p:nvPicPr>
          <p:cNvPr id="3" name="Image 2">
            <a:extLst>
              <a:ext uri="{FF2B5EF4-FFF2-40B4-BE49-F238E27FC236}">
                <a16:creationId xmlns:a16="http://schemas.microsoft.com/office/drawing/2014/main" id="{A5AC2BEB-D8CD-473E-8941-1B54E2439B4A}"/>
              </a:ext>
            </a:extLst>
          </p:cNvPr>
          <p:cNvPicPr>
            <a:picLocks noChangeAspect="1"/>
          </p:cNvPicPr>
          <p:nvPr/>
        </p:nvPicPr>
        <p:blipFill>
          <a:blip r:embed="rId5"/>
          <a:stretch/>
        </p:blipFill>
        <p:spPr>
          <a:xfrm>
            <a:off x="10477500" y="5743941"/>
            <a:ext cx="1714500" cy="1113692"/>
          </a:xfrm>
          <a:prstGeom prst="rect">
            <a:avLst/>
          </a:prstGeom>
        </p:spPr>
      </p:pic>
      <p:sp>
        <p:nvSpPr>
          <p:cNvPr id="4" name="Rectangle 3">
            <a:extLst>
              <a:ext uri="{FF2B5EF4-FFF2-40B4-BE49-F238E27FC236}">
                <a16:creationId xmlns:a16="http://schemas.microsoft.com/office/drawing/2014/main" id="{69BD1ABE-BF4D-4355-822A-7F1AF9F8791E}"/>
              </a:ext>
            </a:extLst>
          </p:cNvPr>
          <p:cNvSpPr>
            <a:spLocks noGrp="1"/>
          </p:cNvSpPr>
          <p:nvPr/>
        </p:nvSpPr>
        <p:spPr>
          <a:xfrm>
            <a:off x="952500" y="428625"/>
            <a:ext cx="10382250" cy="685800"/>
          </a:xfrm>
          <a:prstGeom prst="rect">
            <a:avLst/>
          </a:prstGeom>
          <a:noFill/>
          <a:ln w="0">
            <a:noFill/>
            <a:prstDash val="solid"/>
          </a:ln>
        </p:spPr>
        <p:txBody>
          <a:bodyPr/>
          <a:lstStyle>
            <a:defPPr>
              <a:defRPr sz="2700" b="1">
                <a:solidFill>
                  <a:srgbClr val="651852"/>
                </a:solidFill>
                <a:latin typeface="DejaVu Serif"/>
                <a:ea typeface="DejaVu Serif"/>
                <a:cs typeface="DejaVu Serif"/>
              </a:defRPr>
            </a:defPPr>
          </a:lstStyle>
          <a:p>
            <a:pPr>
              <a:defRPr sz="2700" b="1">
                <a:solidFill>
                  <a:srgbClr val="651852"/>
                </a:solidFill>
                <a:latin typeface="DejaVu Serif"/>
                <a:ea typeface="DejaVu Serif"/>
                <a:cs typeface="DejaVu Serif"/>
              </a:defRPr>
            </a:pPr>
            <a:r>
              <a:rPr sz="2700" b="1">
                <a:solidFill>
                  <a:srgbClr val="651852"/>
                </a:solidFill>
                <a:latin typeface="DejaVu Serif"/>
                <a:ea typeface="DejaVu Serif"/>
                <a:cs typeface="DejaVu Serif"/>
              </a:rPr>
              <a:t>Une question pour la suite</a:t>
            </a:r>
          </a:p>
        </p:txBody>
      </p:sp>
      <p:sp>
        <p:nvSpPr>
          <p:cNvPr id="5" name="Rectangle 4">
            <a:extLst>
              <a:ext uri="{FF2B5EF4-FFF2-40B4-BE49-F238E27FC236}">
                <a16:creationId xmlns:a16="http://schemas.microsoft.com/office/drawing/2014/main" id="{7A14C34E-7FCC-4C99-B56E-59A3F4D65BBD}"/>
              </a:ext>
            </a:extLst>
          </p:cNvPr>
          <p:cNvSpPr>
            <a:spLocks noGrp="1"/>
          </p:cNvSpPr>
          <p:nvPr/>
        </p:nvSpPr>
        <p:spPr>
          <a:xfrm>
            <a:off x="1190625" y="1171575"/>
            <a:ext cx="9810750" cy="476250"/>
          </a:xfrm>
          <a:prstGeom prst="rect">
            <a:avLst/>
          </a:prstGeom>
          <a:noFill/>
          <a:ln w="0">
            <a:noFill/>
            <a:prstDash val="solid"/>
          </a:ln>
        </p:spPr>
        <p:txBody>
          <a:bodyPr/>
          <a:lstStyle>
            <a:defPPr>
              <a:defRPr sz="1575" b="0">
                <a:solidFill>
                  <a:srgbClr val="651852"/>
                </a:solidFill>
                <a:latin typeface="DejaVu Sans"/>
                <a:ea typeface="DejaVu Sans"/>
                <a:cs typeface="DejaVu Sans"/>
              </a:defRPr>
            </a:defPPr>
          </a:lstStyle>
          <a:p>
            <a:pPr>
              <a:defRPr sz="1575" b="0">
                <a:solidFill>
                  <a:srgbClr val="651852"/>
                </a:solidFill>
                <a:latin typeface="DejaVu Sans"/>
                <a:ea typeface="DejaVu Sans"/>
                <a:cs typeface="DejaVu Sans"/>
              </a:defRPr>
            </a:pPr>
            <a:r>
              <a:rPr sz="1575" b="0">
                <a:solidFill>
                  <a:srgbClr val="651852"/>
                </a:solidFill>
                <a:latin typeface="DejaVu Sans"/>
                <a:ea typeface="DejaVu Sans"/>
                <a:cs typeface="DejaVu Sans"/>
              </a:rPr>
              <a:t>La couverture des données peut orienter les marchés que nous voyons</a:t>
            </a:r>
          </a:p>
        </p:txBody>
      </p:sp>
      <p:sp>
        <p:nvSpPr>
          <p:cNvPr id="6" name="Rectangle 5">
            <a:extLst>
              <a:ext uri="{FF2B5EF4-FFF2-40B4-BE49-F238E27FC236}">
                <a16:creationId xmlns:a16="http://schemas.microsoft.com/office/drawing/2014/main" id="{9C8506E7-A8C9-40BC-B576-14ABFB845FF0}"/>
              </a:ext>
            </a:extLst>
          </p:cNvPr>
          <p:cNvSpPr>
            <a:spLocks noGrp="1"/>
          </p:cNvSpPr>
          <p:nvPr/>
        </p:nvSpPr>
        <p:spPr>
          <a:xfrm>
            <a:off x="1524000" y="6467475"/>
            <a:ext cx="8572500" cy="228600"/>
          </a:xfrm>
          <a:prstGeom prst="rect">
            <a:avLst/>
          </a:prstGeom>
          <a:noFill/>
          <a:ln w="0">
            <a:noFill/>
            <a:prstDash val="solid"/>
          </a:ln>
        </p:spPr>
        <p:txBody>
          <a:bodyPr/>
          <a:lstStyle>
            <a:defPPr>
              <a:defRPr sz="1050" b="0">
                <a:solidFill>
                  <a:srgbClr val="685C70"/>
                </a:solidFill>
                <a:latin typeface="DejaVu Sans"/>
                <a:ea typeface="DejaVu Sans"/>
                <a:cs typeface="DejaVu Sans"/>
              </a:defRPr>
            </a:defPPr>
          </a:lstStyle>
          <a:p>
            <a:pPr>
              <a:defRPr sz="1050" b="0">
                <a:solidFill>
                  <a:srgbClr val="685C70"/>
                </a:solidFill>
                <a:latin typeface="DejaVu Sans"/>
                <a:ea typeface="DejaVu Sans"/>
                <a:cs typeface="DejaVu Sans"/>
              </a:defRPr>
            </a:pPr>
            <a:r>
              <a:rPr sz="1050" b="0">
                <a:solidFill>
                  <a:srgbClr val="685C70"/>
                </a:solidFill>
                <a:latin typeface="DejaVu Sans"/>
                <a:ea typeface="DejaVu Sans"/>
                <a:cs typeface="DejaVu Sans"/>
              </a:rPr>
              <a:t>Wahid Nejjam · academy · Analyse exploratoire</a:t>
            </a:r>
          </a:p>
        </p:txBody>
      </p:sp>
      <p:sp>
        <p:nvSpPr>
          <p:cNvPr id="7" name="Rectangle 6">
            <a:extLst>
              <a:ext uri="{FF2B5EF4-FFF2-40B4-BE49-F238E27FC236}">
                <a16:creationId xmlns:a16="http://schemas.microsoft.com/office/drawing/2014/main" id="{3E155B3C-6216-4DCD-801D-C040FC4ADF67}"/>
              </a:ext>
            </a:extLst>
          </p:cNvPr>
          <p:cNvSpPr>
            <a:spLocks noGrp="1"/>
          </p:cNvSpPr>
          <p:nvPr/>
        </p:nvSpPr>
        <p:spPr>
          <a:xfrm>
            <a:off x="11191875" y="6362700"/>
            <a:ext cx="476250" cy="266700"/>
          </a:xfrm>
          <a:prstGeom prst="rect">
            <a:avLst/>
          </a:prstGeom>
          <a:noFill/>
          <a:ln w="0">
            <a:noFill/>
            <a:prstDash val="solid"/>
          </a:ln>
        </p:spPr>
        <p:txBody>
          <a:bodyPr/>
          <a:lstStyle>
            <a:defPPr>
              <a:defRPr sz="1275" b="0">
                <a:solidFill>
                  <a:srgbClr val="651852"/>
                </a:solidFill>
                <a:latin typeface="DejaVu Sans"/>
                <a:ea typeface="DejaVu Sans"/>
                <a:cs typeface="DejaVu Sans"/>
              </a:defRPr>
            </a:defPPr>
          </a:lstStyle>
          <a:p>
            <a:pPr>
              <a:defRPr sz="1275" b="0">
                <a:solidFill>
                  <a:srgbClr val="651852"/>
                </a:solidFill>
                <a:latin typeface="DejaVu Sans"/>
                <a:ea typeface="DejaVu Sans"/>
                <a:cs typeface="DejaVu Sans"/>
              </a:defRPr>
            </a:pPr>
            <a:r>
              <a:rPr sz="1275" b="0">
                <a:solidFill>
                  <a:srgbClr val="651852"/>
                </a:solidFill>
                <a:latin typeface="DejaVu Sans"/>
                <a:ea typeface="DejaVu Sans"/>
                <a:cs typeface="DejaVu Sans"/>
              </a:rPr>
              <a:t>20</a:t>
            </a:r>
          </a:p>
        </p:txBody>
      </p:sp>
      <p:sp>
        <p:nvSpPr>
          <p:cNvPr id="8" name="Rectangle 7">
            <a:extLst>
              <a:ext uri="{FF2B5EF4-FFF2-40B4-BE49-F238E27FC236}">
                <a16:creationId xmlns:a16="http://schemas.microsoft.com/office/drawing/2014/main" id="{1CE8E2BF-3C45-4161-AF74-67551E33D602}"/>
              </a:ext>
            </a:extLst>
          </p:cNvPr>
          <p:cNvSpPr>
            <a:spLocks noGrp="1"/>
          </p:cNvSpPr>
          <p:nvPr/>
        </p:nvSpPr>
        <p:spPr>
          <a:xfrm>
            <a:off x="1381125" y="2095500"/>
            <a:ext cx="9715500" cy="2095500"/>
          </a:xfrm>
          <a:prstGeom prst="rect">
            <a:avLst/>
          </a:prstGeom>
          <a:noFill/>
          <a:ln w="0">
            <a:noFill/>
            <a:prstDash val="solid"/>
          </a:ln>
        </p:spPr>
        <p:txBody>
          <a:bodyPr/>
          <a:lstStyle>
            <a:defPPr>
              <a:defRPr sz="2925" b="1">
                <a:solidFill>
                  <a:srgbClr val="651852"/>
                </a:solidFill>
                <a:latin typeface="DejaVu Serif"/>
                <a:ea typeface="DejaVu Serif"/>
                <a:cs typeface="DejaVu Serif"/>
              </a:defRPr>
            </a:defPPr>
          </a:lstStyle>
          <a:p>
            <a:pPr>
              <a:defRPr sz="2925" b="1">
                <a:solidFill>
                  <a:srgbClr val="651852"/>
                </a:solidFill>
                <a:latin typeface="DejaVu Serif"/>
                <a:ea typeface="DejaVu Serif"/>
                <a:cs typeface="DejaVu Serif"/>
              </a:defRPr>
            </a:pPr>
            <a:r>
              <a:rPr sz="2925" b="1">
                <a:solidFill>
                  <a:srgbClr val="651852"/>
                </a:solidFill>
                <a:latin typeface="DejaVu Serif"/>
                <a:ea typeface="DejaVu Serif"/>
                <a:cs typeface="DejaVu Serif"/>
              </a:rPr>
              <a:t>Faut-il approfondir les 42 pays complets</a:t>
            </a:r>
          </a:p>
          <a:p>
            <a:pPr>
              <a:defRPr sz="2925" b="1">
                <a:solidFill>
                  <a:srgbClr val="651852"/>
                </a:solidFill>
                <a:latin typeface="DejaVu Serif"/>
                <a:ea typeface="DejaVu Serif"/>
                <a:cs typeface="DejaVu Serif"/>
              </a:defRPr>
            </a:pPr>
            <a:r>
              <a:rPr sz="2925" b="1">
                <a:solidFill>
                  <a:srgbClr val="651852"/>
                </a:solidFill>
                <a:latin typeface="DejaVu Serif"/>
                <a:ea typeface="DejaVu Serif"/>
                <a:cs typeface="DejaVu Serif"/>
              </a:rPr>
              <a:t>ou élargir les données avant de choisir</a:t>
            </a:r>
          </a:p>
          <a:p>
            <a:pPr>
              <a:defRPr sz="2925" b="1">
                <a:solidFill>
                  <a:srgbClr val="651852"/>
                </a:solidFill>
                <a:latin typeface="DejaVu Serif"/>
                <a:ea typeface="DejaVu Serif"/>
                <a:cs typeface="DejaVu Serif"/>
              </a:defRPr>
            </a:pPr>
            <a:r>
              <a:rPr sz="2925" b="1">
                <a:solidFill>
                  <a:srgbClr val="651852"/>
                </a:solidFill>
                <a:latin typeface="DejaVu Serif"/>
                <a:ea typeface="DejaVu Serif"/>
                <a:cs typeface="DejaVu Serif"/>
              </a:rPr>
              <a:t>un marché pilote ?</a:t>
            </a:r>
          </a:p>
        </p:txBody>
      </p:sp>
      <p:sp>
        <p:nvSpPr>
          <p:cNvPr id="9" name="Rectangle 8">
            <a:extLst>
              <a:ext uri="{FF2B5EF4-FFF2-40B4-BE49-F238E27FC236}">
                <a16:creationId xmlns:a16="http://schemas.microsoft.com/office/drawing/2014/main" id="{097575A5-635B-4A32-9100-038E238E5A6F}"/>
              </a:ext>
            </a:extLst>
          </p:cNvPr>
          <p:cNvSpPr>
            <a:spLocks noGrp="1"/>
          </p:cNvSpPr>
          <p:nvPr/>
        </p:nvSpPr>
        <p:spPr>
          <a:xfrm>
            <a:off x="1428750" y="4524375"/>
            <a:ext cx="9429750" cy="809625"/>
          </a:xfrm>
          <a:prstGeom prst="rect">
            <a:avLst/>
          </a:prstGeom>
          <a:noFill/>
          <a:ln w="0">
            <a:noFill/>
            <a:prstDash val="solid"/>
          </a:ln>
        </p:spPr>
        <p:txBody>
          <a:bodyPr/>
          <a:lstStyle>
            <a:defPPr>
              <a:defRPr sz="1950" b="0">
                <a:solidFill>
                  <a:srgbClr val="281F35"/>
                </a:solidFill>
                <a:latin typeface="DejaVu Sans"/>
                <a:ea typeface="DejaVu Sans"/>
                <a:cs typeface="DejaVu Sans"/>
              </a:defRPr>
            </a:defPPr>
          </a:lstStyle>
          <a:p>
            <a:pPr>
              <a:defRPr sz="1950" b="0">
                <a:solidFill>
                  <a:srgbClr val="281F35"/>
                </a:solidFill>
                <a:latin typeface="DejaVu Sans"/>
                <a:ea typeface="DejaVu Sans"/>
                <a:cs typeface="DejaVu Sans"/>
              </a:defRPr>
            </a:pPr>
            <a:r>
              <a:rPr sz="1950" b="0">
                <a:solidFill>
                  <a:srgbClr val="281F35"/>
                </a:solidFill>
                <a:latin typeface="DejaVu Sans"/>
                <a:ea typeface="DejaVu Sans"/>
                <a:cs typeface="DejaVu Sans"/>
              </a:rPr>
              <a:t>174 pays sur 216 sont exclus pour données manquantes.</a:t>
            </a:r>
          </a:p>
          <a:p>
            <a:pPr>
              <a:defRPr sz="1950" b="0">
                <a:solidFill>
                  <a:srgbClr val="281F35"/>
                </a:solidFill>
                <a:latin typeface="DejaVu Sans"/>
                <a:ea typeface="DejaVu Sans"/>
                <a:cs typeface="DejaVu Sans"/>
              </a:defRPr>
            </a:pPr>
            <a:r>
              <a:rPr sz="1950" b="0">
                <a:solidFill>
                  <a:srgbClr val="281F35"/>
                </a:solidFill>
                <a:latin typeface="DejaVu Sans"/>
                <a:ea typeface="DejaVu Sans"/>
                <a:cs typeface="DejaVu Sans"/>
              </a:rPr>
              <a:t>Cette absence ne démontre pas un faible potentiel commercial.</a:t>
            </a:r>
          </a:p>
        </p:txBody>
      </p:sp>
    </p:spTree>
    <p:extLst>
      <p:ext uri="{BB962C8B-B14F-4D97-AF65-F5344CB8AC3E}">
        <p14:creationId xmlns:p14="http://schemas.microsoft.com/office/powerpoint/2010/main" val="90646485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2695</Words>
  <Application>Microsoft Office PowerPoint</Application>
  <DocSecurity>0</DocSecurity>
  <PresentationFormat>Grand écran</PresentationFormat>
  <Paragraphs>317</Paragraphs>
  <Slides>19</Slides>
  <Notes>19</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19</vt:i4>
      </vt:variant>
    </vt:vector>
  </HeadingPairs>
  <TitlesOfParts>
    <vt:vector size="23" baseType="lpstr">
      <vt:lpstr>Aptos</vt:lpstr>
      <vt:lpstr>DejaVu Sans</vt:lpstr>
      <vt:lpstr>DejaVu Serif</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wahid NEJJAM</cp:lastModifiedBy>
  <cp:revision>1</cp:revision>
  <dcterms:created xsi:type="dcterms:W3CDTF">2026-10-16T01:14:57Z</dcterms:created>
  <dcterms:modified xsi:type="dcterms:W3CDTF">2026-10-16T08:39:22Z</dcterms:modified>
</cp:coreProperties>
</file>